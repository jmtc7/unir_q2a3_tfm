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Efrel (apertura del equipo). ~40 s.</a:t>
            </a:r>
          </a:p>
          <a:p>
            <a:r>
              <a:t>Buenos días. Somos Efrel, José Miguel y Víctor. Presentamos OpsInsight Analytics, una plataforma local multiagente que transforma documentación operativa heterogénea en inteligencia analítica accionable. TFM en modalidad RedProyectum con Sopra Steria, dirigido por Rafael Martínez Ranera.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Efrel. ~30 s.</a:t>
            </a:r>
          </a:p>
          <a:p>
            <a:r>
              <a:t>Recorremos cuatro bloques: contexto y objetivos, arquitectura, los módulos del pipeline y, para cerrar, resultados y conclusiones.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Efrel.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Efrel. ~1 min.</a:t>
            </a:r>
          </a:p>
          <a:p>
            <a:r>
              <a:t>El conocimiento del negocio queda disperso en papeles, PDFs y sistemas distintos. No hay dependencia de datos reales de empresa: usamos datasets públicos de referencia (AI4I 2020 y MetroPT-3) sugeridos por Sopra Steria. El objetivo es cerrar la cadena del dato: de la ingesta a la decisión.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Efrel. ~1 min.</a:t>
            </a:r>
          </a:p>
          <a:p>
            <a:r>
              <a:t>Nueve objetivos específicos, agrupados en tres bloques: preparación del dato (OE1-OE5), analítica (OE6-OE7) y las dos capas inteligentes (OE8 RAG, OE9 dashboard). Volveremos sobre el grado de cumplimiento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Efrel. ~50 s.</a:t>
            </a:r>
          </a:p>
          <a:p>
            <a:r>
              <a:t>Seguimos CRISP-DM, adaptado al dominio industrial, en seis fases sobre 16 semanas. El trabajo se repartió por afinidad técnica pero con revisión cruzada: todos conocemos todo 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Víctor.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Víctor. ~1 min.</a:t>
            </a:r>
          </a:p>
          <a:p>
            <a:r>
              <a:t>El dato recorre cinco capas encadenadas. Cada módulo es independiente y sustituible sin rediseñar el conjunto — esa modularidad es clave para la trazabilidad. Todo lo orquesta n8n.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Víctor. ~50 s.</a:t>
            </a:r>
          </a:p>
          <a:p>
            <a:r>
              <a:t>Todo el stack corre en local con Docker. El punto diferencial: LLMs de 3B parámetros ejecutables en CPU con pocos GB de RAM. Nada sale a la nube — privacidad total, algo crítico para un entorno como Sopra Steria.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Víctor. ~40 s.</a:t>
            </a:r>
          </a:p>
          <a:p>
            <a:r>
              <a:t>Este es el workflow completo en n8n, organizado en cuatro zonas de responsabilidad. Ahora entramos en cada módulo en detalle.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José Miguel.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José Miguel. ~1:15 min.</a:t>
            </a:r>
          </a:p>
          <a:p>
            <a:r>
              <a:t>Tres vías de entrada convergen en un único JSON. La extracción usa Qwen2.5 porque respeta formatos estrictos sin inventar. Para el OCR comparamos Tesseract y Paddle sobre formularios reales del Anexo A: elegimos Paddle por precisión, sobre todo en manuscritos.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José Miguel. ~1:15 min.</a:t>
            </a:r>
          </a:p>
          <a:p>
            <a:r>
              <a:t>Entre ingesta y análisis metimos un gate de calidad en dos capas. La estructural es bloqueante; la semántica genera alertas de coherencia contra el manual. Detalle de ingeniería: la lógica es una función pura con 19 tests que se inyecta automáticamente en n8n, así el código testeado y el de producción nunca divergen.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Víctor. ~1:15 min.</a:t>
            </a:r>
          </a:p>
          <a:p>
            <a:r>
              <a:t>El corazón inteligente: un AI Agent con un LLM local equipado con una herramienta de búsqueda vectorial sobre el manual. Traduce la incidencia a lenguaje natural, recupera el fallo que mejor encaja y devuelve criticidad, tiempo y coste — siempre anclado al manual, sin alucinar. Elegimos llama para razonar y Qwen para extraer.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José Miguel. ~1 min.</a:t>
            </a:r>
          </a:p>
          <a:p>
            <a:r>
              <a:t>Persistimos en MySQL y CSV. Lo importante: TODO queda trazado, incluidos rechazos y fallos de infraestructura capturados por un error workflow. A la derecha, tres optimizaciones de rendimiento que hicimos sobre la versión base: la más grande, desacoplar el RAG bajó una incidencia de 30 minutos a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Efrel. ~1 min.</a:t>
            </a:r>
          </a:p>
          <a:p>
            <a:r>
              <a:t>Aquí se hace visible el valor. El dashboard se auto-provisiona con el contenedor (dashboards-as-code), sin configuración manual, y refresca cada 30 s. Expone KPIs de negocio, estado de validación, alertas semánticas y el registro completo. Cierra la cadena del dato: de un reporte heterogéneo a una decisión informada.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Efrel.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Efrel. ~1 min.</a:t>
            </a:r>
          </a:p>
          <a:p>
            <a:r>
              <a:t>Validamos el sistema completo de extremo a extremo con datos sintéticos sobre los datasets de referencia. De los nueve objetivos, siete quedan completos y validados; OE6 y OE7 (análisis temporal e índice de criticidad compuesto) quedan soportados en su dimensión descriptiva — el sistema ya captura frecuencia, tiempo y coste, falta combinarlos en una métrica única.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Víctor. ~50 s.</a:t>
            </a:r>
          </a:p>
          <a:p>
            <a:r>
              <a:t>Somos honestos con el alcance: el mayor límite es la latencia de los LLMs locales en CPU, y es un demostrador, no producción. La hoja de ruta es clara: cerrar el índice compuesto, añadir ingesta por webhook, notificaciones activas y más reglas de coherencia.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Efrel. ~50 s.</a:t>
            </a:r>
          </a:p>
          <a:p>
            <a:r>
              <a:t>En síntesis: materializamos una respuesta concreta al vacío del estado del arte. Tres aportaciones diferenciales — pipeline local completo, validación semántica y visualización trazable. Un MVP honesto que abre una hoja de ruta clara.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PRESENTA: los tres. Cierre y turno de preguntas del tribunal.</a:t>
            </a:r>
          </a:p>
          <a:p>
            <a:r>
              <a:t>Posibles preguntas: ¿por qué n8n y no Activepieces? ¿por qué LLM local? ¿cómo se evita la alucinación del agente? ¿escalabilidad a datos reales?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B8A6"/>
                </a:solidFill>
                <a:latin typeface="Segoe UI Semibold"/>
              </a:rPr>
              <a:t>UNIVERSIDAD INTERNACIONAL DE LA RIOJA</a:t>
            </a:r>
            <a:r>
              <a:rPr sz="1200" b="0">
                <a:solidFill>
                  <a:srgbClr val="AFC0CE"/>
                </a:solidFill>
                <a:latin typeface="Segoe UI"/>
              </a:rPr>
              <a:t>   ·   Escuela Superior de Ingeniería y Tecnología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6D3DD"/>
                </a:solidFill>
                <a:latin typeface="Segoe UI"/>
              </a:rPr>
              <a:t>Máster en Análisis y Visualización de Datos Masivos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Segoe UI Semibold"/>
              </a:rPr>
              <a:t>OpsInsight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" y="3063240"/>
            <a:ext cx="2194560" cy="54864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D7E1E9"/>
                </a:solidFill>
                <a:latin typeface="Segoe UI Light"/>
              </a:rPr>
              <a:t>Diseño y desarrollo de una plataforma de monitorización operativa mediante cuadros de mando conectados a sistemas OCR y automatización con agentes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Efrel Armando López Cáceres     ·     José Miguel Torres Cámara     ·     Víctor Romero Pardeiro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B8A6"/>
                </a:solidFill>
                <a:latin typeface="Segoe UI Semibold"/>
              </a:rPr>
              <a:t>Director: </a:t>
            </a:r>
            <a:r>
              <a:rPr sz="1150" b="0">
                <a:solidFill>
                  <a:srgbClr val="C6D3DD"/>
                </a:solidFill>
                <a:latin typeface="Segoe UI"/>
              </a:rPr>
              <a:t>Rafael Martínez Ranera</a:t>
            </a:r>
            <a:r>
              <a:rPr sz="1150" b="1">
                <a:solidFill>
                  <a:srgbClr val="16B8A6"/>
                </a:solidFill>
                <a:latin typeface="Segoe UI Semibold"/>
              </a:rPr>
              <a:t>        Tipo de trabajo: </a:t>
            </a:r>
            <a:r>
              <a:rPr sz="1150" b="0">
                <a:solidFill>
                  <a:srgbClr val="C6D3DD"/>
                </a:solidFill>
                <a:latin typeface="Segoe UI"/>
              </a:rPr>
              <a:t>Desarrollo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623560"/>
            <a:ext cx="3794760" cy="457200"/>
          </a:xfrm>
          <a:prstGeom prst="roundRect">
            <a:avLst>
              <a:gd name="adj" fmla="val 40000"/>
            </a:avLst>
          </a:prstGeom>
          <a:solidFill>
            <a:srgbClr val="12253A"/>
          </a:solidFill>
          <a:ln w="12700">
            <a:solidFill>
              <a:srgbClr val="0E8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562356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6B8A6"/>
                </a:solidFill>
                <a:latin typeface="Segoe UI Semibold"/>
              </a:rPr>
              <a:t>RedProyectum</a:t>
            </a:r>
            <a:r>
              <a:rPr sz="1050" b="0">
                <a:solidFill>
                  <a:srgbClr val="C6D3DD"/>
                </a:solidFill>
                <a:latin typeface="Segoe UI"/>
              </a:rPr>
              <a:t>  ·  en colaboración con Sopra Steria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215" y="562356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FB2C2"/>
                </a:solidFill>
                <a:latin typeface="Segoe UI"/>
              </a:rPr>
              <a:t>Defensa de Trabajo Fin de Máster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256032" cy="256032"/>
          </a:xfrm>
          <a:prstGeom prst="roundRect">
            <a:avLst>
              <a:gd name="adj" fmla="val 28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7" y="5486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E8C7F"/>
                </a:solidFill>
                <a:latin typeface="Segoe UI Semibold"/>
              </a:rPr>
              <a:t>ÍNDICE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2A3A"/>
                </a:solidFill>
                <a:latin typeface="Segoe UI Semibold"/>
              </a:rPr>
              <a:t>Agenda de la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554480" cy="4572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11535" cy="10972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5B6B7B"/>
                </a:solidFill>
                <a:latin typeface="Segoe UI Semibold"/>
              </a:rPr>
              <a:t>OpsInsight Analytics</a:t>
            </a:r>
            <a:r>
              <a:rPr sz="850" b="0">
                <a:solidFill>
                  <a:srgbClr val="5B6B7B"/>
                </a:solidFill>
                <a:latin typeface="Segoe UI"/>
              </a:rPr>
              <a:t>   ·   Defensa TFM · UNIR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6815" y="6473952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0E8C7F"/>
                </a:solidFill>
                <a:latin typeface="Segoe UI Semibold"/>
              </a:rPr>
              <a:t>Agenda   </a:t>
            </a:r>
            <a:r>
              <a:rPr sz="850" b="0">
                <a:solidFill>
                  <a:srgbClr val="5B6B7B"/>
                </a:solidFill>
                <a:latin typeface="Segoe UI"/>
              </a:rPr>
              <a:t>· 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10911535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965960"/>
            <a:ext cx="109728" cy="932688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1965960"/>
            <a:ext cx="118872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B8A6"/>
                </a:solidFill>
                <a:latin typeface="Segoe UI Semi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093976"/>
            <a:ext cx="908273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A2A3A"/>
                </a:solidFill>
                <a:latin typeface="Segoe UI Semibold"/>
              </a:rPr>
              <a:t>Contexto y objetivos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El problema, el objetivo general y los 9 objetivos específicos; metodología CRISP-DM.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26663"/>
            <a:ext cx="10911535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026663"/>
            <a:ext cx="109728" cy="93268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19" y="3026663"/>
            <a:ext cx="118872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5A623"/>
                </a:solidFill>
                <a:latin typeface="Segoe UI Semibol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154679"/>
            <a:ext cx="908273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A2A3A"/>
                </a:solidFill>
                <a:latin typeface="Segoe UI Semibold"/>
              </a:rPr>
              <a:t>Arquitectura de la solución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Las 5 capas, el stack 100% local y el workflow integrado en n8n.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87368"/>
            <a:ext cx="10911535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4087368"/>
            <a:ext cx="109728" cy="932688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19" y="4087368"/>
            <a:ext cx="118872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6B8A6"/>
                </a:solidFill>
                <a:latin typeface="Segoe UI Semibol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215383"/>
            <a:ext cx="908273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A2A3A"/>
                </a:solidFill>
                <a:latin typeface="Segoe UI Semibold"/>
              </a:rPr>
              <a:t>Módulos del pipeline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Ingesta + OCR, validación en 2 capas, agente RAG, registro y dashboard.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148072"/>
            <a:ext cx="10911535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5148072"/>
            <a:ext cx="109728" cy="932688"/>
          </a:xfrm>
          <a:prstGeom prst="roundRect">
            <a:avLst>
              <a:gd name="adj" fmla="val 50000"/>
            </a:avLst>
          </a:prstGeom>
          <a:solidFill>
            <a:srgbClr val="2FB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19" y="5148072"/>
            <a:ext cx="118872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2FB574"/>
                </a:solidFill>
                <a:latin typeface="Segoe UI Semibol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276088"/>
            <a:ext cx="908273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A2A3A"/>
                </a:solidFill>
                <a:latin typeface="Segoe UI Semibold"/>
              </a:rPr>
              <a:t>Resultados y conclusiones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Grado de cumplimiento, limitaciones, trabajo futuro y conclusiones.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1371600"/>
            <a:ext cx="59436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>
                <a:solidFill>
                  <a:srgbClr val="1B3047"/>
                </a:solidFill>
                <a:latin typeface="Segoe UI Semibo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19" y="32461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6B8A6"/>
                </a:solidFill>
                <a:latin typeface="Segoe UI Semibold"/>
              </a:rPr>
              <a:t>BLOQUE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Contexto y objetivos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46177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FB2C2"/>
                </a:solidFill>
                <a:latin typeface="Segoe UI"/>
              </a:rPr>
              <a:t>Por qué el conocimiento operativo está fragmentado y qué nos propusimos resolver.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8415" y="6419088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C8092"/>
                </a:solidFill>
                <a:latin typeface="Segoe UI"/>
              </a:rPr>
              <a:t>OpsInsight Analytics ·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256032" cy="256032"/>
          </a:xfrm>
          <a:prstGeom prst="roundRect">
            <a:avLst>
              <a:gd name="adj" fmla="val 28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7" y="5486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E8C7F"/>
                </a:solidFill>
                <a:latin typeface="Segoe UI Semibold"/>
              </a:rPr>
              <a:t>CONTEXTO Y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2A3A"/>
                </a:solidFill>
                <a:latin typeface="Segoe UI Semibold"/>
              </a:rPr>
              <a:t>El conocimiento operativo está fragmentado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554480" cy="4572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11535" cy="10972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5B6B7B"/>
                </a:solidFill>
                <a:latin typeface="Segoe UI Semibold"/>
              </a:rPr>
              <a:t>OpsInsight Analytics</a:t>
            </a:r>
            <a:r>
              <a:rPr sz="850" b="0">
                <a:solidFill>
                  <a:srgbClr val="5B6B7B"/>
                </a:solidFill>
                <a:latin typeface="Segoe UI"/>
              </a:rPr>
              <a:t>   ·   Defensa TFM · UNIR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6815" y="6473952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0E8C7F"/>
                </a:solidFill>
                <a:latin typeface="Segoe UI Semibold"/>
              </a:rPr>
              <a:t>Contexto   </a:t>
            </a:r>
            <a:r>
              <a:rPr sz="850" b="0">
                <a:solidFill>
                  <a:srgbClr val="5B6B7B"/>
                </a:solidFill>
                <a:latin typeface="Segoe UI"/>
              </a:rPr>
              <a:t>· 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603504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22402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2A3A"/>
                </a:solidFill>
                <a:latin typeface="Segoe UI Semibold"/>
              </a:rPr>
              <a:t>El problema de partida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2788920"/>
            <a:ext cx="54864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6B8A6"/>
                </a:solidFill>
                <a:latin typeface="Segoe UI Semibold"/>
              </a:rPr>
              <a:t>▸  </a:t>
            </a:r>
            <a:r>
              <a:rPr sz="1250" b="0">
                <a:solidFill>
                  <a:srgbClr val="1A2A3A"/>
                </a:solidFill>
                <a:latin typeface="Segoe UI"/>
              </a:rPr>
              <a:t>Fuentes heterogéneas: formularios online, partes en PDF, reportes manuscritos y manuales técnicos.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6B8A6"/>
                </a:solidFill>
                <a:latin typeface="Segoe UI Semibold"/>
              </a:rPr>
              <a:t>▸  </a:t>
            </a:r>
            <a:r>
              <a:rPr sz="1250" b="0">
                <a:solidFill>
                  <a:srgbClr val="1A2A3A"/>
                </a:solidFill>
                <a:latin typeface="Segoe UI"/>
              </a:rPr>
              <a:t>Nomenclaturas inconsistentes, formatos dispares y campos incompletos.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6B8A6"/>
                </a:solidFill>
                <a:latin typeface="Segoe UI Semibold"/>
              </a:rPr>
              <a:t>▸  </a:t>
            </a:r>
            <a:r>
              <a:rPr sz="1250" b="0">
                <a:solidFill>
                  <a:srgbClr val="1A2A3A"/>
                </a:solidFill>
                <a:latin typeface="Segoe UI"/>
              </a:rPr>
              <a:t>Sin una visión consolidada del comportamiento de los activos.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6B8A6"/>
                </a:solidFill>
                <a:latin typeface="Segoe UI Semibold"/>
              </a:rPr>
              <a:t>▸  </a:t>
            </a:r>
            <a:r>
              <a:rPr sz="1250" b="0">
                <a:solidFill>
                  <a:srgbClr val="1A2A3A"/>
                </a:solidFill>
                <a:latin typeface="Segoe UI"/>
              </a:rPr>
              <a:t>Consecuencia: la toma de decisiones de mantenimiento se hace sin evidencia.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1965960"/>
            <a:ext cx="4602175" cy="1874519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2194560"/>
            <a:ext cx="419069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6B8A6"/>
                </a:solidFill>
                <a:latin typeface="Segoe UI Semibold"/>
              </a:rPr>
              <a:t>Entorno de referencia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Mantenimiento industrial en organizaciones de servicios tecnológicos como Sopra Steria.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6D3DD"/>
                </a:solidFill>
                <a:latin typeface="Segoe UI"/>
              </a:rPr>
              <a:t>Datos: AI4I 2020 y MetroPT-3 (compresor de aire de un metro).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4114800"/>
            <a:ext cx="4602175" cy="1874519"/>
          </a:xfrm>
          <a:prstGeom prst="roundRect">
            <a:avLst>
              <a:gd name="adj" fmla="val 6000"/>
            </a:avLst>
          </a:prstGeom>
          <a:solidFill>
            <a:srgbClr val="E4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49440" y="4114800"/>
            <a:ext cx="4602175" cy="64008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4343400"/>
            <a:ext cx="419069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0E8C7F"/>
                </a:solidFill>
                <a:latin typeface="Segoe UI Semibold"/>
              </a:rPr>
              <a:t>Nuestra meta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2A3A"/>
                </a:solidFill>
                <a:latin typeface="Segoe UI Semibold"/>
              </a:rPr>
              <a:t>Pasar de documentación heterogénea a inteligencia analítica accionable: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8C7F"/>
                </a:solidFill>
                <a:latin typeface="Segoe UI Semibold"/>
              </a:rPr>
              <a:t>local, trazable y reproducible.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256032" cy="256032"/>
          </a:xfrm>
          <a:prstGeom prst="roundRect">
            <a:avLst>
              <a:gd name="adj" fmla="val 28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7" y="5486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E8C7F"/>
                </a:solidFill>
                <a:latin typeface="Segoe UI Semibold"/>
              </a:rPr>
              <a:t>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2A3A"/>
                </a:solidFill>
                <a:latin typeface="Segoe UI Semibold"/>
              </a:rPr>
              <a:t>Objetivo general y objetivos específicos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554480" cy="4572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11535" cy="10972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5B6B7B"/>
                </a:solidFill>
                <a:latin typeface="Segoe UI Semibold"/>
              </a:rPr>
              <a:t>OpsInsight Analytics</a:t>
            </a:r>
            <a:r>
              <a:rPr sz="850" b="0">
                <a:solidFill>
                  <a:srgbClr val="5B6B7B"/>
                </a:solidFill>
                <a:latin typeface="Segoe UI"/>
              </a:rPr>
              <a:t>   ·   Defensa TFM · UNIR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6815" y="6473952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0E8C7F"/>
                </a:solidFill>
                <a:latin typeface="Segoe UI Semibold"/>
              </a:rPr>
              <a:t>Objetivos   </a:t>
            </a:r>
            <a:r>
              <a:rPr sz="850" b="0">
                <a:solidFill>
                  <a:srgbClr val="5B6B7B"/>
                </a:solidFill>
                <a:latin typeface="Segoe UI"/>
              </a:rPr>
              <a:t>· 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10911535" cy="96012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874519"/>
            <a:ext cx="109728" cy="960120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1874519"/>
            <a:ext cx="10362895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6B8A6"/>
                </a:solidFill>
                <a:latin typeface="Segoe UI Semibold"/>
              </a:rPr>
              <a:t>OBJETIVO GENERAL   </a:t>
            </a:r>
            <a:r>
              <a:rPr sz="1250" b="0">
                <a:solidFill>
                  <a:srgbClr val="FFFFFF"/>
                </a:solidFill>
                <a:latin typeface="Segoe UI"/>
              </a:rPr>
              <a:t>Diseñar, implementar y validar OpsInsight Analytics, una plataforma multiagente local que transforme información operativa dispersa y heterogénea en analítica estructurada, trazable y accionable.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527288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E8C7F"/>
                </a:solidFill>
                <a:latin typeface="Segoe UI Semibold"/>
              </a:rPr>
              <a:t>OE1  </a:t>
            </a:r>
            <a:r>
              <a:rPr sz="1100" b="0">
                <a:solidFill>
                  <a:srgbClr val="1A2A3A"/>
                </a:solidFill>
                <a:latin typeface="Segoe UI"/>
              </a:rPr>
              <a:t>Analizar el dominio y los datasets de referencia (AI4I 2020, MetroPT-3).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11880"/>
            <a:ext cx="5272887" cy="9144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66744"/>
            <a:ext cx="527288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E8C7F"/>
                </a:solidFill>
                <a:latin typeface="Segoe UI Semibold"/>
              </a:rPr>
              <a:t>OE2  </a:t>
            </a:r>
            <a:r>
              <a:rPr sz="1100" b="0">
                <a:solidFill>
                  <a:srgbClr val="1A2A3A"/>
                </a:solidFill>
                <a:latin typeface="Segoe UI"/>
              </a:rPr>
              <a:t>Comparar soluciones OCR (Tesseract vs Paddle).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15383"/>
            <a:ext cx="5272887" cy="9144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70248"/>
            <a:ext cx="527288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E8C7F"/>
                </a:solidFill>
                <a:latin typeface="Segoe UI Semibold"/>
              </a:rPr>
              <a:t>OE3  </a:t>
            </a:r>
            <a:r>
              <a:rPr sz="1100" b="0">
                <a:solidFill>
                  <a:srgbClr val="1A2A3A"/>
                </a:solidFill>
                <a:latin typeface="Segoe UI"/>
              </a:rPr>
              <a:t>Módulo de ingesta multiformato → JSON estandarizado.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18888"/>
            <a:ext cx="5272887" cy="9144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73752"/>
            <a:ext cx="527288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E8C7F"/>
                </a:solidFill>
                <a:latin typeface="Segoe UI Semibold"/>
              </a:rPr>
              <a:t>OE4  </a:t>
            </a:r>
            <a:r>
              <a:rPr sz="1100" b="0">
                <a:solidFill>
                  <a:srgbClr val="1A2A3A"/>
                </a:solidFill>
                <a:latin typeface="Segoe UI"/>
              </a:rPr>
              <a:t>Validación del JSON en dos capas (estructural + semántica).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422392"/>
            <a:ext cx="5272887" cy="9144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477256"/>
            <a:ext cx="527288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E8C7F"/>
                </a:solidFill>
                <a:latin typeface="Segoe UI Semibold"/>
              </a:rPr>
              <a:t>OE5  </a:t>
            </a:r>
            <a:r>
              <a:rPr sz="1100" b="0">
                <a:solidFill>
                  <a:srgbClr val="1A2A3A"/>
                </a:solidFill>
                <a:latin typeface="Segoe UI"/>
              </a:rPr>
              <a:t>Repositorio analítico consolidado en MySQL.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025896"/>
            <a:ext cx="5272887" cy="9144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8727" y="3063240"/>
            <a:ext cx="527288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E8C7F"/>
                </a:solidFill>
                <a:latin typeface="Segoe UI Semibold"/>
              </a:rPr>
              <a:t>OE6  </a:t>
            </a:r>
            <a:r>
              <a:rPr sz="1100" b="0">
                <a:solidFill>
                  <a:srgbClr val="1A2A3A"/>
                </a:solidFill>
                <a:latin typeface="Segoe UI"/>
              </a:rPr>
              <a:t>Análisis descriptivo y temporal del repositorio.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8727" y="3611880"/>
            <a:ext cx="5272887" cy="9144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8727" y="3666744"/>
            <a:ext cx="527288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E8C7F"/>
                </a:solidFill>
                <a:latin typeface="Segoe UI Semibold"/>
              </a:rPr>
              <a:t>OE7  </a:t>
            </a:r>
            <a:r>
              <a:rPr sz="1100" b="0">
                <a:solidFill>
                  <a:srgbClr val="1A2A3A"/>
                </a:solidFill>
                <a:latin typeface="Segoe UI"/>
              </a:rPr>
              <a:t>Índice de criticidad (frecuencia + parada + coste).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78727" y="4215383"/>
            <a:ext cx="5272887" cy="9144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78727" y="4270248"/>
            <a:ext cx="527288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E8C7F"/>
                </a:solidFill>
                <a:latin typeface="Segoe UI Semibold"/>
              </a:rPr>
              <a:t>OE8  </a:t>
            </a:r>
            <a:r>
              <a:rPr sz="1100" b="0">
                <a:solidFill>
                  <a:srgbClr val="1A2A3A"/>
                </a:solidFill>
                <a:latin typeface="Segoe UI"/>
              </a:rPr>
              <a:t>Agente de diagnóstico técnico mediante RAG.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78727" y="4818888"/>
            <a:ext cx="5272887" cy="9144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8727" y="4873752"/>
            <a:ext cx="527288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E8C7F"/>
                </a:solidFill>
                <a:latin typeface="Segoe UI Semibold"/>
              </a:rPr>
              <a:t>OE9  </a:t>
            </a:r>
            <a:r>
              <a:rPr sz="1100" b="0">
                <a:solidFill>
                  <a:srgbClr val="1A2A3A"/>
                </a:solidFill>
                <a:latin typeface="Segoe UI"/>
              </a:rPr>
              <a:t>Cuadro de mando interactivo en Grafana.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8727" y="5422392"/>
            <a:ext cx="5272887" cy="9144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256032" cy="256032"/>
          </a:xfrm>
          <a:prstGeom prst="roundRect">
            <a:avLst>
              <a:gd name="adj" fmla="val 28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7" y="5486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E8C7F"/>
                </a:solidFill>
                <a:latin typeface="Segoe UI Semibold"/>
              </a:rPr>
              <a:t>MÉTODO Y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2A3A"/>
                </a:solidFill>
                <a:latin typeface="Segoe UI Semibold"/>
              </a:rPr>
              <a:t>Metodología: CRISP-DM adaptado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554480" cy="4572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11535" cy="10972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5B6B7B"/>
                </a:solidFill>
                <a:latin typeface="Segoe UI Semibold"/>
              </a:rPr>
              <a:t>OpsInsight Analytics</a:t>
            </a:r>
            <a:r>
              <a:rPr sz="850" b="0">
                <a:solidFill>
                  <a:srgbClr val="5B6B7B"/>
                </a:solidFill>
                <a:latin typeface="Segoe UI"/>
              </a:rPr>
              <a:t>   ·   Defensa TFM · UNIR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6815" y="6473952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0E8C7F"/>
                </a:solidFill>
                <a:latin typeface="Segoe UI Semibold"/>
              </a:rPr>
              <a:t>Metodología   </a:t>
            </a:r>
            <a:r>
              <a:rPr sz="850" b="0">
                <a:solidFill>
                  <a:srgbClr val="5B6B7B"/>
                </a:solidFill>
                <a:latin typeface="Segoe UI"/>
              </a:rPr>
              <a:t>·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166618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057400"/>
            <a:ext cx="1666189" cy="457200"/>
          </a:xfrm>
          <a:prstGeom prst="roundRect">
            <a:avLst>
              <a:gd name="adj" fmla="val 12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286000"/>
            <a:ext cx="1666189" cy="2286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75688"/>
            <a:ext cx="166618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FASE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2624328"/>
            <a:ext cx="148330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2A3A"/>
                </a:solidFill>
                <a:latin typeface="Segoe UI Semibold"/>
              </a:rPr>
              <a:t>Comprensión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2A3A"/>
                </a:solidFill>
                <a:latin typeface="Segoe UI Semibold"/>
              </a:rPr>
              <a:t>del negocio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3429000"/>
            <a:ext cx="148330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B"/>
                </a:solidFill>
                <a:latin typeface="Segoe UI"/>
              </a:rPr>
              <a:t>Alcance, indicadores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B"/>
                </a:solidFill>
                <a:latin typeface="Segoe UI"/>
              </a:rPr>
              <a:t>y fuentes fiables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89149" y="2057400"/>
            <a:ext cx="166618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89149" y="2057400"/>
            <a:ext cx="1666189" cy="457200"/>
          </a:xfrm>
          <a:prstGeom prst="roundRect">
            <a:avLst>
              <a:gd name="adj" fmla="val 12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149" y="2286000"/>
            <a:ext cx="1666189" cy="2286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89149" y="2075688"/>
            <a:ext cx="166618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FASE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80589" y="2624328"/>
            <a:ext cx="148330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2A3A"/>
                </a:solidFill>
                <a:latin typeface="Segoe UI Semibold"/>
              </a:rPr>
              <a:t>Comprensión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2A3A"/>
                </a:solidFill>
                <a:latin typeface="Segoe UI Semibold"/>
              </a:rPr>
              <a:t>de los datos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80589" y="3429000"/>
            <a:ext cx="148330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B"/>
                </a:solidFill>
                <a:latin typeface="Segoe UI"/>
              </a:rPr>
              <a:t>Manual sintético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B"/>
                </a:solidFill>
                <a:latin typeface="Segoe UI"/>
              </a:rPr>
              <a:t>plantilla · OE1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2057400"/>
            <a:ext cx="166618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38218" y="2057400"/>
            <a:ext cx="1666189" cy="457200"/>
          </a:xfrm>
          <a:prstGeom prst="roundRect">
            <a:avLst>
              <a:gd name="adj" fmla="val 12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38218" y="2286000"/>
            <a:ext cx="1666189" cy="228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8218" y="2075688"/>
            <a:ext cx="166618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FASE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9658" y="2624328"/>
            <a:ext cx="148330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2A3A"/>
                </a:solidFill>
                <a:latin typeface="Segoe UI Semibold"/>
              </a:rPr>
              <a:t>Preparación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2A3A"/>
                </a:solidFill>
                <a:latin typeface="Segoe UI Semibold"/>
              </a:rPr>
              <a:t>de los datos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9658" y="3429000"/>
            <a:ext cx="148330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B"/>
                </a:solidFill>
                <a:latin typeface="Segoe UI"/>
              </a:rPr>
              <a:t>Pipeline OCR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B"/>
                </a:solidFill>
                <a:latin typeface="Segoe UI"/>
              </a:rPr>
              <a:t>agente extractor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7287" y="2057400"/>
            <a:ext cx="166618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87287" y="2057400"/>
            <a:ext cx="1666189" cy="457200"/>
          </a:xfrm>
          <a:prstGeom prst="roundRect">
            <a:avLst>
              <a:gd name="adj" fmla="val 12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87287" y="2286000"/>
            <a:ext cx="1666189" cy="228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7287" y="2075688"/>
            <a:ext cx="166618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FASE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8727" y="2624328"/>
            <a:ext cx="148330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2A3A"/>
                </a:solidFill>
                <a:latin typeface="Segoe UI Semibold"/>
              </a:rPr>
              <a:t>Modelado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8727" y="3429000"/>
            <a:ext cx="148330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B"/>
                </a:solidFill>
                <a:latin typeface="Segoe UI"/>
              </a:rPr>
              <a:t>Modelo MySQL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B"/>
                </a:solidFill>
                <a:latin typeface="Segoe UI"/>
              </a:rPr>
              <a:t>criticidad · OE6-7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36356" y="2057400"/>
            <a:ext cx="166618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36356" y="2057400"/>
            <a:ext cx="1666189" cy="457200"/>
          </a:xfrm>
          <a:prstGeom prst="roundRect">
            <a:avLst>
              <a:gd name="adj" fmla="val 12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36356" y="2286000"/>
            <a:ext cx="1666189" cy="2286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36356" y="2075688"/>
            <a:ext cx="166618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FASE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6" y="2624328"/>
            <a:ext cx="148330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2A3A"/>
                </a:solidFill>
                <a:latin typeface="Segoe UI Semibold"/>
              </a:rPr>
              <a:t>Evaluación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7796" y="3429000"/>
            <a:ext cx="148330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B"/>
                </a:solidFill>
                <a:latin typeface="Segoe UI"/>
              </a:rPr>
              <a:t>OCR, esquema 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B"/>
                </a:solidFill>
                <a:latin typeface="Segoe UI"/>
              </a:rPr>
              <a:t>usabilidad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85426" y="2057400"/>
            <a:ext cx="166618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885426" y="2057400"/>
            <a:ext cx="1666189" cy="457200"/>
          </a:xfrm>
          <a:prstGeom prst="roundRect">
            <a:avLst>
              <a:gd name="adj" fmla="val 12000"/>
            </a:avLst>
          </a:prstGeom>
          <a:solidFill>
            <a:srgbClr val="2FB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885426" y="2286000"/>
            <a:ext cx="1666189" cy="228600"/>
          </a:xfrm>
          <a:prstGeom prst="rect">
            <a:avLst/>
          </a:prstGeom>
          <a:solidFill>
            <a:srgbClr val="2FB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85426" y="2075688"/>
            <a:ext cx="166618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 Semibold"/>
              </a:rPr>
              <a:t>FASE 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76866" y="2624328"/>
            <a:ext cx="148330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A2A3A"/>
                </a:solidFill>
                <a:latin typeface="Segoe UI Semibold"/>
              </a:rPr>
              <a:t>Despliegue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76866" y="3429000"/>
            <a:ext cx="148330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B"/>
                </a:solidFill>
                <a:latin typeface="Segoe UI"/>
              </a:rPr>
              <a:t>Integración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B"/>
                </a:solidFill>
                <a:latin typeface="Segoe UI"/>
              </a:rPr>
              <a:t>Docker + TFM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4343400"/>
            <a:ext cx="10911535" cy="16002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0080" y="4343400"/>
            <a:ext cx="10911535" cy="64008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0080" y="4343400"/>
            <a:ext cx="10911535" cy="64008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448056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A3A"/>
                </a:solidFill>
                <a:latin typeface="Segoe UI Semibold"/>
              </a:rPr>
              <a:t>Reparto de responsabilidades (16 semanas)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4892040"/>
            <a:ext cx="321045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Segoe UI Semibold"/>
              </a:rPr>
              <a:t>Efrel A. López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Modelo de datos MySQL · análisis temporal y criticidad (OE6-7) · dashboard (OE9) · integración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90618" y="4892040"/>
            <a:ext cx="321045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Segoe UI Semibold"/>
              </a:rPr>
              <a:t>José Miguel Torres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Pipeline OCR (Tesseract/Paddle) · ingesta y extracción · validación · registro (OE2-5)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66836" y="4892040"/>
            <a:ext cx="321045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Segoe UI Semibold"/>
              </a:rPr>
              <a:t>Víctor Romero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Análisis descriptivo · índice de criticidad · agente de diagnóstico RAG (OE6-8)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1371600"/>
            <a:ext cx="59436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>
                <a:solidFill>
                  <a:srgbClr val="1B3047"/>
                </a:solidFill>
                <a:latin typeface="Segoe UI Semibol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19" y="32461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6B8A6"/>
                </a:solidFill>
                <a:latin typeface="Segoe UI Semibold"/>
              </a:rPr>
              <a:t>BLOQUE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Arquitectura de la solución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46177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FB2C2"/>
                </a:solidFill>
                <a:latin typeface="Segoe UI"/>
              </a:rPr>
              <a:t>Cinco capas técnicas, stack 100% local y orquestación con n8n.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8415" y="6419088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C8092"/>
                </a:solidFill>
                <a:latin typeface="Segoe UI"/>
              </a:rPr>
              <a:t>OpsInsight Analytics ·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256032" cy="256032"/>
          </a:xfrm>
          <a:prstGeom prst="roundRect">
            <a:avLst>
              <a:gd name="adj" fmla="val 28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7" y="5486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E8C7F"/>
                </a:solidFill>
                <a:latin typeface="Segoe UI Semibold"/>
              </a:rPr>
              <a:t>VISIÓN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2A3A"/>
                </a:solidFill>
                <a:latin typeface="Segoe UI Semibold"/>
              </a:rPr>
              <a:t>Arquitectura: cinco capas encadenadas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554480" cy="4572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11535" cy="10972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5B6B7B"/>
                </a:solidFill>
                <a:latin typeface="Segoe UI Semibold"/>
              </a:rPr>
              <a:t>OpsInsight Analytics</a:t>
            </a:r>
            <a:r>
              <a:rPr sz="850" b="0">
                <a:solidFill>
                  <a:srgbClr val="5B6B7B"/>
                </a:solidFill>
                <a:latin typeface="Segoe UI"/>
              </a:rPr>
              <a:t>   ·   Defensa TFM · UNIR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6815" y="6473952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0E8C7F"/>
                </a:solidFill>
                <a:latin typeface="Segoe UI Semibold"/>
              </a:rPr>
              <a:t>Arquitectura   </a:t>
            </a:r>
            <a:r>
              <a:rPr sz="850" b="0">
                <a:solidFill>
                  <a:srgbClr val="5B6B7B"/>
                </a:solidFill>
                <a:latin typeface="Segoe UI"/>
              </a:rPr>
              <a:t>· 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165561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965960"/>
            <a:ext cx="1655612" cy="82296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2148840"/>
            <a:ext cx="14727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A3A"/>
                </a:solidFill>
                <a:latin typeface="Segoe UI Semibold"/>
              </a:rPr>
              <a:t>Ingesta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624328"/>
            <a:ext cx="14727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Segoe UI"/>
              </a:rPr>
              <a:t>Fuentes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Segoe UI"/>
              </a:rPr>
              <a:t>heterogéneas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7404" y="1965960"/>
            <a:ext cx="658368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6B8A6"/>
                </a:solidFill>
                <a:latin typeface="Segoe UI Semibold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54060" y="1965960"/>
            <a:ext cx="165561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54060" y="1965960"/>
            <a:ext cx="1655612" cy="82296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5500" y="2148840"/>
            <a:ext cx="14727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A3A"/>
                </a:solidFill>
                <a:latin typeface="Segoe UI Semibold"/>
              </a:rPr>
              <a:t>Extracción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5500" y="2624328"/>
            <a:ext cx="14727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Segoe UI"/>
              </a:rPr>
              <a:t>OCR + LLM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Segoe UI"/>
              </a:rPr>
              <a:t>→ 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1385" y="1965960"/>
            <a:ext cx="658368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6B8A6"/>
                </a:solidFill>
                <a:latin typeface="Segoe UI Semibold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68041" y="1965960"/>
            <a:ext cx="165561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68041" y="1965960"/>
            <a:ext cx="1655612" cy="82296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59481" y="2148840"/>
            <a:ext cx="14727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A3A"/>
                </a:solidFill>
                <a:latin typeface="Segoe UI Semibold"/>
              </a:rPr>
              <a:t>Validación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9481" y="2624328"/>
            <a:ext cx="14727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Segoe UI"/>
              </a:rPr>
              <a:t>Estructural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Segoe UI"/>
              </a:rPr>
              <a:t>semántica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5365" y="1965960"/>
            <a:ext cx="658368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6B8A6"/>
                </a:solidFill>
                <a:latin typeface="Segoe UI Semibold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2021" y="1965960"/>
            <a:ext cx="165561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82021" y="1965960"/>
            <a:ext cx="1655612" cy="82296"/>
          </a:xfrm>
          <a:prstGeom prst="roundRect">
            <a:avLst>
              <a:gd name="adj" fmla="val 50000"/>
            </a:avLst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73461" y="2148840"/>
            <a:ext cx="14727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A3A"/>
                </a:solidFill>
                <a:latin typeface="Segoe UI Semibold"/>
              </a:rPr>
              <a:t>Registro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73461" y="2624328"/>
            <a:ext cx="14727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Segoe UI"/>
              </a:rPr>
              <a:t>MySQL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Segoe UI"/>
              </a:rPr>
              <a:t>CSV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9346" y="1965960"/>
            <a:ext cx="658368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6B8A6"/>
                </a:solidFill>
                <a:latin typeface="Segoe UI Semibold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96002" y="1965960"/>
            <a:ext cx="165561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896002" y="1965960"/>
            <a:ext cx="1655612" cy="82296"/>
          </a:xfrm>
          <a:prstGeom prst="roundRect">
            <a:avLst>
              <a:gd name="adj" fmla="val 50000"/>
            </a:avLst>
          </a:prstGeom>
          <a:solidFill>
            <a:srgbClr val="2FB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87442" y="2148840"/>
            <a:ext cx="14727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A3A"/>
                </a:solidFill>
                <a:latin typeface="Segoe UI Semibold"/>
              </a:rPr>
              <a:t>Visualización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87442" y="2624328"/>
            <a:ext cx="14727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Segoe UI"/>
              </a:rPr>
              <a:t>Dashboard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Segoe UI"/>
              </a:rPr>
              <a:t>Grafana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3794760"/>
            <a:ext cx="1783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" y="3794760"/>
            <a:ext cx="1783080" cy="73152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3959352"/>
            <a:ext cx="16002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A2A3A"/>
                </a:solidFill>
                <a:latin typeface="Segoe UI Semibold"/>
              </a:rPr>
              <a:t>Entradas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Formulario · PDF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Imagen (OCR)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3794760"/>
            <a:ext cx="2743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6B8A6"/>
                </a:solidFill>
                <a:latin typeface="Segoe UI Semibold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7479" y="3794760"/>
            <a:ext cx="4526280" cy="1371600"/>
          </a:xfrm>
          <a:prstGeom prst="roundRect">
            <a:avLst>
              <a:gd name="adj" fmla="val 6000"/>
            </a:avLst>
          </a:prstGeom>
          <a:solidFill>
            <a:srgbClr val="E4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697479" y="3794760"/>
            <a:ext cx="4526280" cy="73152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88920" y="3913632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E8C7F"/>
                </a:solidFill>
                <a:latin typeface="Segoe UI Semibold"/>
              </a:rPr>
              <a:t>n8n · orquestación de agentes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62072" y="4251960"/>
            <a:ext cx="1988819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07791" y="4306824"/>
            <a:ext cx="189737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A2A3A"/>
                </a:solidFill>
                <a:latin typeface="Segoe UI Semibold"/>
              </a:rPr>
              <a:t>Agente de ingesta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→ JSON estandarizado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50892" y="4251960"/>
            <a:ext cx="219456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E8C7F"/>
                </a:solidFill>
                <a:latin typeface="Segoe UI Semibold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0348" y="4251960"/>
            <a:ext cx="1988819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16068" y="4306824"/>
            <a:ext cx="189737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A2A3A"/>
                </a:solidFill>
                <a:latin typeface="Segoe UI Semibold"/>
              </a:rPr>
              <a:t>Agente de análisis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5B6B7B"/>
                </a:solidFill>
                <a:latin typeface="Segoe UI"/>
              </a:rPr>
              <a:t>RAG + manual MetroPT-3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3794760"/>
            <a:ext cx="2743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6B8A6"/>
                </a:solidFill>
                <a:latin typeface="Segoe UI Semibold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8080" y="3794760"/>
            <a:ext cx="1783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498080" y="3794760"/>
            <a:ext cx="1783080" cy="73152"/>
          </a:xfrm>
          <a:prstGeom prst="roundRect">
            <a:avLst>
              <a:gd name="adj" fmla="val 50000"/>
            </a:avLst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89520" y="3959352"/>
            <a:ext cx="16002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A2A3A"/>
                </a:solidFill>
                <a:latin typeface="Segoe UI Semibold"/>
              </a:rPr>
              <a:t>Registro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MySQL + CSV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3794760"/>
            <a:ext cx="2743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6B8A6"/>
                </a:solidFill>
                <a:latin typeface="Segoe UI Semibold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555480" y="3794760"/>
            <a:ext cx="16916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555480" y="3794760"/>
            <a:ext cx="1691640" cy="73152"/>
          </a:xfrm>
          <a:prstGeom prst="roundRect">
            <a:avLst>
              <a:gd name="adj" fmla="val 50000"/>
            </a:avLst>
          </a:prstGeom>
          <a:solidFill>
            <a:srgbClr val="2FB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46920" y="3959352"/>
            <a:ext cx="15087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A2A3A"/>
                </a:solidFill>
                <a:latin typeface="Segoe UI Semibold"/>
              </a:rPr>
              <a:t>Grafana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Cuadro de mando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34924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Orquestación jerárquica de agentes coordinados por n8n · flujo trazable de extremo a extremo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256032" cy="256032"/>
          </a:xfrm>
          <a:prstGeom prst="roundRect">
            <a:avLst>
              <a:gd name="adj" fmla="val 28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7" y="5486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E8C7F"/>
                </a:solidFill>
                <a:latin typeface="Segoe UI Semibold"/>
              </a:rPr>
              <a:t>TECNOLOGÍAS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2A3A"/>
                </a:solidFill>
                <a:latin typeface="Segoe UI Semibold"/>
              </a:rPr>
              <a:t>Stack tecnológico: 100% local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554480" cy="4572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11535" cy="10972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5B6B7B"/>
                </a:solidFill>
                <a:latin typeface="Segoe UI Semibold"/>
              </a:rPr>
              <a:t>OpsInsight Analytics</a:t>
            </a:r>
            <a:r>
              <a:rPr sz="850" b="0">
                <a:solidFill>
                  <a:srgbClr val="5B6B7B"/>
                </a:solidFill>
                <a:latin typeface="Segoe UI"/>
              </a:rPr>
              <a:t>   ·   Defensa TFM · UNIR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6815" y="6473952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0E8C7F"/>
                </a:solidFill>
                <a:latin typeface="Segoe UI Semibold"/>
              </a:rPr>
              <a:t>Arquitectura   </a:t>
            </a:r>
            <a:r>
              <a:rPr sz="850" b="0">
                <a:solidFill>
                  <a:srgbClr val="5B6B7B"/>
                </a:solidFill>
                <a:latin typeface="Segoe UI"/>
              </a:rPr>
              <a:t>· 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5272887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011680"/>
            <a:ext cx="82296" cy="694944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121408"/>
            <a:ext cx="495284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2A3A"/>
                </a:solidFill>
                <a:latin typeface="Segoe UI Semibold"/>
              </a:rPr>
              <a:t>n8n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Orquestación de agentes y workflow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2011680"/>
            <a:ext cx="5272887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2011680"/>
            <a:ext cx="82296" cy="694944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8183" y="2121408"/>
            <a:ext cx="495284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2A3A"/>
                </a:solidFill>
                <a:latin typeface="Segoe UI Semibold"/>
              </a:rPr>
              <a:t>Ollama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LLM local: Qwen2.5:3b · llama3.2:3b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52928"/>
            <a:ext cx="5272887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852928"/>
            <a:ext cx="82296" cy="69494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2962656"/>
            <a:ext cx="495284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2A3A"/>
                </a:solidFill>
                <a:latin typeface="Segoe UI Semibold"/>
              </a:rPr>
              <a:t>Tesseract · PaddleOCR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Reconocimiento óptico de caracteres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8727" y="2852928"/>
            <a:ext cx="5272887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8727" y="2852928"/>
            <a:ext cx="82296" cy="69494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8183" y="2962656"/>
            <a:ext cx="495284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2A3A"/>
                </a:solidFill>
                <a:latin typeface="Segoe UI Semibold"/>
              </a:rPr>
              <a:t>RAG · nomic-embed-text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Recuperación semántica del manual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694176"/>
            <a:ext cx="5272887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3694176"/>
            <a:ext cx="82296" cy="694944"/>
          </a:xfrm>
          <a:prstGeom prst="roundRect">
            <a:avLst>
              <a:gd name="adj" fmla="val 50000"/>
            </a:avLst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3803904"/>
            <a:ext cx="495284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2A3A"/>
                </a:solidFill>
                <a:latin typeface="Segoe UI Semibold"/>
              </a:rPr>
              <a:t>MySQL 8.0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Repositorio analítico de incidencias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8727" y="3694176"/>
            <a:ext cx="5272887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78727" y="3694176"/>
            <a:ext cx="82296" cy="694944"/>
          </a:xfrm>
          <a:prstGeom prst="roundRect">
            <a:avLst>
              <a:gd name="adj" fmla="val 50000"/>
            </a:avLst>
          </a:prstGeom>
          <a:solidFill>
            <a:srgbClr val="2FB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8183" y="3803904"/>
            <a:ext cx="495284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2A3A"/>
                </a:solidFill>
                <a:latin typeface="Segoe UI Semibold"/>
              </a:rPr>
              <a:t>Grafana 11.4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Cuadro de mando auto-provisionado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535424"/>
            <a:ext cx="5272887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4535424"/>
            <a:ext cx="82296" cy="694944"/>
          </a:xfrm>
          <a:prstGeom prst="roundRect">
            <a:avLst>
              <a:gd name="adj" fmla="val 50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4645152"/>
            <a:ext cx="495284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2A3A"/>
                </a:solidFill>
                <a:latin typeface="Segoe UI Semibold"/>
              </a:rPr>
              <a:t>Docker Compose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Despliegue reproducible del stack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8727" y="4535424"/>
            <a:ext cx="5272887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78727" y="4535424"/>
            <a:ext cx="82296" cy="694944"/>
          </a:xfrm>
          <a:prstGeom prst="roundRect">
            <a:avLst>
              <a:gd name="adj" fmla="val 50000"/>
            </a:avLst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8183" y="4645152"/>
            <a:ext cx="495284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2A3A"/>
                </a:solidFill>
                <a:latin typeface="Segoe UI Semibold"/>
              </a:rPr>
              <a:t>Python · node:test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Servicio OCR (FastAPI) y validador testeado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532120"/>
            <a:ext cx="10911535" cy="566928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532120"/>
            <a:ext cx="103628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6B8A6"/>
                </a:solidFill>
                <a:latin typeface="Segoe UI Semibold"/>
              </a:rPr>
              <a:t>100% local  </a:t>
            </a:r>
            <a:r>
              <a:rPr sz="1200" b="0">
                <a:solidFill>
                  <a:srgbClr val="FFFFFF"/>
                </a:solidFill>
                <a:latin typeface="Segoe UI"/>
              </a:rPr>
              <a:t>Sin dependencias en la nube ni exposición de datos sensibles → privacidad y reproducibilidad garantizadas.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256032" cy="256032"/>
          </a:xfrm>
          <a:prstGeom prst="roundRect">
            <a:avLst>
              <a:gd name="adj" fmla="val 28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7" y="5486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E8C7F"/>
                </a:solidFill>
                <a:latin typeface="Segoe UI Semibold"/>
              </a:rPr>
              <a:t>ORQUESTACIÓN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2A3A"/>
                </a:solidFill>
                <a:latin typeface="Segoe UI Semibold"/>
              </a:rPr>
              <a:t>Workflow integrado en n8n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554480" cy="4572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11535" cy="10972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5B6B7B"/>
                </a:solidFill>
                <a:latin typeface="Segoe UI Semibold"/>
              </a:rPr>
              <a:t>OpsInsight Analytics</a:t>
            </a:r>
            <a:r>
              <a:rPr sz="850" b="0">
                <a:solidFill>
                  <a:srgbClr val="5B6B7B"/>
                </a:solidFill>
                <a:latin typeface="Segoe UI"/>
              </a:rPr>
              <a:t>   ·   Defensa TFM · UNIR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6815" y="6473952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0E8C7F"/>
                </a:solidFill>
                <a:latin typeface="Segoe UI Semibold"/>
              </a:rPr>
              <a:t>Arquitectura   </a:t>
            </a:r>
            <a:r>
              <a:rPr sz="850" b="0">
                <a:solidFill>
                  <a:srgbClr val="5B6B7B"/>
                </a:solidFill>
                <a:latin typeface="Segoe UI"/>
              </a:rPr>
              <a:t>·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20240"/>
            <a:ext cx="10911535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843" y="2057400"/>
            <a:ext cx="8902007" cy="2788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0080" y="5166360"/>
            <a:ext cx="91440" cy="777240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5166360"/>
            <a:ext cx="235526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2A3A"/>
                </a:solidFill>
                <a:latin typeface="Segoe UI Semibold"/>
              </a:rPr>
              <a:t>Ingesta documental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Formulario · PDF · OCR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5113" y="5166360"/>
            <a:ext cx="91440" cy="77724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6281" y="5166360"/>
            <a:ext cx="235526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2A3A"/>
                </a:solidFill>
                <a:latin typeface="Segoe UI Semibold"/>
              </a:rPr>
              <a:t>Validación del JSON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Estructural + semántica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5166360"/>
            <a:ext cx="91440" cy="777240"/>
          </a:xfrm>
          <a:prstGeom prst="roundRect">
            <a:avLst>
              <a:gd name="adj" fmla="val 50000"/>
            </a:avLst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1315" y="5166360"/>
            <a:ext cx="235526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2A3A"/>
                </a:solidFill>
                <a:latin typeface="Segoe UI Semibold"/>
              </a:rPr>
              <a:t>Análisis documental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RAG + AI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5181" y="5166360"/>
            <a:ext cx="91440" cy="777240"/>
          </a:xfrm>
          <a:prstGeom prst="roundRect">
            <a:avLst>
              <a:gd name="adj" fmla="val 50000"/>
            </a:avLst>
          </a:prstGeom>
          <a:solidFill>
            <a:srgbClr val="2FB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6349" y="5166360"/>
            <a:ext cx="235526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A2A3A"/>
                </a:solidFill>
                <a:latin typeface="Segoe UI Semibold"/>
              </a:rPr>
              <a:t>Registro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MySQL + 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1371600"/>
            <a:ext cx="59436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>
                <a:solidFill>
                  <a:srgbClr val="1B3047"/>
                </a:solidFill>
                <a:latin typeface="Segoe UI Semibol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19" y="32461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6B8A6"/>
                </a:solidFill>
                <a:latin typeface="Segoe UI Semibold"/>
              </a:rPr>
              <a:t>BLOQUE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Módulos del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46177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FB2C2"/>
                </a:solidFill>
                <a:latin typeface="Segoe UI"/>
              </a:rPr>
              <a:t>Del reporte crudo al diagnóstico registrado: ingesta, validación, RAG, registro y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8415" y="6419088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C8092"/>
                </a:solidFill>
                <a:latin typeface="Segoe UI"/>
              </a:rPr>
              <a:t>OpsInsight Analytics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256032" cy="256032"/>
          </a:xfrm>
          <a:prstGeom prst="roundRect">
            <a:avLst>
              <a:gd name="adj" fmla="val 28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7" y="5486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E8C7F"/>
                </a:solidFill>
                <a:latin typeface="Segoe UI Semibold"/>
              </a:rPr>
              <a:t>MÓDULO · OE2-OE3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2A3A"/>
                </a:solidFill>
                <a:latin typeface="Segoe UI Semibold"/>
              </a:rPr>
              <a:t>Ingesta omnicanal y extracción OCR/LLM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554480" cy="4572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11535" cy="10972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5B6B7B"/>
                </a:solidFill>
                <a:latin typeface="Segoe UI Semibold"/>
              </a:rPr>
              <a:t>OpsInsight Analytics</a:t>
            </a:r>
            <a:r>
              <a:rPr sz="850" b="0">
                <a:solidFill>
                  <a:srgbClr val="5B6B7B"/>
                </a:solidFill>
                <a:latin typeface="Segoe UI"/>
              </a:rPr>
              <a:t>   ·   Defensa TFM · UNIR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6815" y="6473952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0E8C7F"/>
                </a:solidFill>
                <a:latin typeface="Segoe UI Semibold"/>
              </a:rPr>
              <a:t>Ingesta   </a:t>
            </a:r>
            <a:r>
              <a:rPr sz="850" b="0">
                <a:solidFill>
                  <a:srgbClr val="5B6B7B"/>
                </a:solidFill>
                <a:latin typeface="Segoe UI"/>
              </a:rPr>
              <a:t>·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20240"/>
            <a:ext cx="57607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920240"/>
            <a:ext cx="82296" cy="731520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029968"/>
            <a:ext cx="5440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2A3A"/>
                </a:solidFill>
                <a:latin typeface="Segoe UI Semibold"/>
              </a:rPr>
              <a:t>Formulario online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Entrada web estructurada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61488"/>
            <a:ext cx="57607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761488"/>
            <a:ext cx="82296" cy="731520"/>
          </a:xfrm>
          <a:prstGeom prst="roundRect">
            <a:avLst>
              <a:gd name="adj" fmla="val 50000"/>
            </a:avLst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871216"/>
            <a:ext cx="5440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2A3A"/>
                </a:solidFill>
                <a:latin typeface="Segoe UI Semibold"/>
              </a:rPr>
              <a:t>PDF digital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Extracción de texto + LLM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02736"/>
            <a:ext cx="57607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602736"/>
            <a:ext cx="82296" cy="7315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712463"/>
            <a:ext cx="5440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2A3A"/>
                </a:solidFill>
                <a:latin typeface="Segoe UI Semibold"/>
              </a:rPr>
              <a:t>Foto (impreso / manuscrito)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5B6B7B"/>
                </a:solidFill>
                <a:latin typeface="Segoe UI"/>
              </a:rPr>
              <a:t>OCR → texto → LLM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43984"/>
            <a:ext cx="5760720" cy="141732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617720"/>
            <a:ext cx="5394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16B8A6"/>
                </a:solidFill>
                <a:latin typeface="Segoe UI Semibold"/>
              </a:rPr>
              <a:t>Salida unificada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JSON de incidencia estandarizado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>
                <a:solidFill>
                  <a:srgbClr val="C6D3DD"/>
                </a:solidFill>
                <a:latin typeface="Segoe UI"/>
              </a:rPr>
              <a:t>Extracción con Qwen2.5:3b (respeta formatos estrictos, no 'interpreta').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1920240"/>
            <a:ext cx="4876495" cy="39410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2121408"/>
            <a:ext cx="4419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2A3A"/>
                </a:solidFill>
                <a:latin typeface="Segoe UI Semibold"/>
              </a:rPr>
              <a:t>Comparativa OCR (OE2)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2651760"/>
            <a:ext cx="91440" cy="822960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2651760"/>
            <a:ext cx="40992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2A3A"/>
                </a:solidFill>
                <a:latin typeface="Segoe UI Semibold"/>
              </a:rPr>
              <a:t>Tesseract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B7B"/>
                </a:solidFill>
                <a:latin typeface="Segoe UI"/>
              </a:rPr>
              <a:t>Rápido y ligero, pero peor con manuscritos.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0" y="3566160"/>
            <a:ext cx="91440" cy="822960"/>
          </a:xfrm>
          <a:prstGeom prst="roundRect">
            <a:avLst>
              <a:gd name="adj" fmla="val 50000"/>
            </a:avLst>
          </a:prstGeom>
          <a:solidFill>
            <a:srgbClr val="2FB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3566160"/>
            <a:ext cx="409925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A2A3A"/>
                </a:solidFill>
                <a:latin typeface="Segoe UI Semibold"/>
              </a:rPr>
              <a:t>PaddleOCR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5B6B7B"/>
                </a:solidFill>
                <a:latin typeface="Segoe UI"/>
              </a:rPr>
              <a:t>Más pesado, pero mayor precisión.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0" y="4526280"/>
            <a:ext cx="4327855" cy="1234440"/>
          </a:xfrm>
          <a:prstGeom prst="roundRect">
            <a:avLst>
              <a:gd name="adj" fmla="val 6000"/>
            </a:avLst>
          </a:prstGeom>
          <a:solidFill>
            <a:srgbClr val="E4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49440" y="4526280"/>
            <a:ext cx="4327855" cy="64008"/>
          </a:xfrm>
          <a:prstGeom prst="roundRect">
            <a:avLst>
              <a:gd name="adj" fmla="val 50000"/>
            </a:avLst>
          </a:prstGeom>
          <a:solidFill>
            <a:srgbClr val="2FB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4663440"/>
            <a:ext cx="39620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2FB574"/>
                </a:solidFill>
                <a:latin typeface="Segoe UI Semibold"/>
              </a:rPr>
              <a:t>Decisión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0E8C7F"/>
                </a:solidFill>
                <a:latin typeface="Segoe UI Semibold"/>
              </a:rPr>
              <a:t>PaddleOCR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B7B"/>
                </a:solidFill>
                <a:latin typeface="Segoe UI"/>
              </a:rPr>
              <a:t>con evidencia experimental sobre los formularios del Anexo 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256032" cy="256032"/>
          </a:xfrm>
          <a:prstGeom prst="roundRect">
            <a:avLst>
              <a:gd name="adj" fmla="val 28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7" y="5486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E8C7F"/>
                </a:solidFill>
                <a:latin typeface="Segoe UI Semibold"/>
              </a:rPr>
              <a:t>MÓDULO · OE4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2A3A"/>
                </a:solidFill>
                <a:latin typeface="Segoe UI Semibold"/>
              </a:rPr>
              <a:t>Validación en dos capas: el gate de calidad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554480" cy="4572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11535" cy="10972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5B6B7B"/>
                </a:solidFill>
                <a:latin typeface="Segoe UI Semibold"/>
              </a:rPr>
              <a:t>OpsInsight Analytics</a:t>
            </a:r>
            <a:r>
              <a:rPr sz="850" b="0">
                <a:solidFill>
                  <a:srgbClr val="5B6B7B"/>
                </a:solidFill>
                <a:latin typeface="Segoe UI"/>
              </a:rPr>
              <a:t>   ·   Defensa TFM · UNIR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6815" y="6473952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0E8C7F"/>
                </a:solidFill>
                <a:latin typeface="Segoe UI Semibold"/>
              </a:rPr>
              <a:t>Validación   </a:t>
            </a:r>
            <a:r>
              <a:rPr sz="850" b="0">
                <a:solidFill>
                  <a:srgbClr val="5B6B7B"/>
                </a:solidFill>
                <a:latin typeface="Segoe UI"/>
              </a:rPr>
              <a:t>·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20240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920240"/>
            <a:ext cx="5349240" cy="64008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084831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2A3A"/>
                </a:solidFill>
                <a:latin typeface="Segoe UI Semibold"/>
              </a:rPr>
              <a:t>Capa 1 · Estructural  </a:t>
            </a:r>
            <a:r>
              <a:rPr sz="1050" b="1">
                <a:solidFill>
                  <a:srgbClr val="E5484D"/>
                </a:solidFill>
                <a:latin typeface="Segoe UI Semibold"/>
              </a:rPr>
              <a:t>(bloqueante)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B7B"/>
                </a:solidFill>
                <a:latin typeface="Segoe UI"/>
              </a:rPr>
              <a:t>Campos requeridos, tipos y rangos físicamente posibles. Si falla → validacion_ok=0, no pasa al agente.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91840"/>
            <a:ext cx="53492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291840"/>
            <a:ext cx="5349240" cy="640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456432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2A3A"/>
                </a:solidFill>
                <a:latin typeface="Segoe UI Semibold"/>
              </a:rPr>
              <a:t>Capa 2 · Semántica  </a:t>
            </a:r>
            <a:r>
              <a:rPr sz="1050" b="1">
                <a:solidFill>
                  <a:srgbClr val="F5A623"/>
                </a:solidFill>
                <a:latin typeface="Segoe UI Semibold"/>
              </a:rPr>
              <a:t>(informativa)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B7B"/>
                </a:solidFill>
                <a:latin typeface="Segoe UI"/>
              </a:rPr>
              <a:t>Coherencia entre variables según el manual MetroPT-3. Inconsistencias → alertas_validacion (visibles en Grafana).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63440"/>
            <a:ext cx="5349240" cy="118872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828032"/>
            <a:ext cx="49377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6B8A6"/>
                </a:solidFill>
                <a:latin typeface="Segoe UI Semibold"/>
              </a:rPr>
              <a:t>Código testeado = código en producción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Función JS pura + 19 tests (node:test) → inyectada en el nodo Code de n8n vía build. Nunca divergen.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920240"/>
            <a:ext cx="5333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A3A"/>
                </a:solidFill>
                <a:latin typeface="Segoe UI Semibold"/>
              </a:rPr>
              <a:t>5 reglas semánticas del manual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331720"/>
            <a:ext cx="5333695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404872"/>
            <a:ext cx="49679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0E8C7F"/>
                </a:solidFill>
                <a:latin typeface="Consolas"/>
              </a:rPr>
              <a:t>COMP_DV_ELECTRIC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B7B"/>
                </a:solidFill>
                <a:latin typeface="Segoe UI"/>
              </a:rPr>
              <a:t>COMP y DV_Electric no simultáneas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044952"/>
            <a:ext cx="5333695" cy="65836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118104"/>
            <a:ext cx="49679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0E8C7F"/>
                </a:solidFill>
                <a:latin typeface="Consolas"/>
              </a:rPr>
              <a:t>DV_BAJO_CARGA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B7B"/>
                </a:solidFill>
                <a:latin typeface="Segoe UI"/>
              </a:rPr>
              <a:t>Bajo carga, presión DV ≈ 0 bar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758184"/>
            <a:ext cx="5333695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31336"/>
            <a:ext cx="49679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0E8C7F"/>
                </a:solidFill>
                <a:latin typeface="Consolas"/>
              </a:rPr>
              <a:t>R_LEJOS_TP3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B7B"/>
                </a:solidFill>
                <a:latin typeface="Segoe UI"/>
              </a:rPr>
              <a:t>Presión depósito R cercana a TP3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471416"/>
            <a:ext cx="5333695" cy="65836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4544568"/>
            <a:ext cx="49679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0E8C7F"/>
                </a:solidFill>
                <a:latin typeface="Consolas"/>
              </a:rPr>
              <a:t>LPS_INCOHERENTE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B7B"/>
                </a:solidFill>
                <a:latin typeface="Segoe UI"/>
              </a:rPr>
              <a:t>LPS=1 ↔ R &lt; 7 bar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5184648"/>
            <a:ext cx="5333695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5257800"/>
            <a:ext cx="49679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0E8C7F"/>
                </a:solidFill>
                <a:latin typeface="Consolas"/>
              </a:rPr>
              <a:t>CORRIENTE_FUERA_RANGO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B6B7B"/>
                </a:solidFill>
                <a:latin typeface="Segoe UI"/>
              </a:rPr>
              <a:t>Corriente ≈ nominales {0,4,7,9} 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256032" cy="256032"/>
          </a:xfrm>
          <a:prstGeom prst="roundRect">
            <a:avLst>
              <a:gd name="adj" fmla="val 28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7" y="5486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E8C7F"/>
                </a:solidFill>
                <a:latin typeface="Segoe UI Semibold"/>
              </a:rPr>
              <a:t>MÓDULO · OE8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2A3A"/>
                </a:solidFill>
                <a:latin typeface="Segoe UI Semibold"/>
              </a:rPr>
              <a:t>Agente de diagnóstico documental (RAG)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554480" cy="4572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11535" cy="10972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5B6B7B"/>
                </a:solidFill>
                <a:latin typeface="Segoe UI Semibold"/>
              </a:rPr>
              <a:t>OpsInsight Analytics</a:t>
            </a:r>
            <a:r>
              <a:rPr sz="850" b="0">
                <a:solidFill>
                  <a:srgbClr val="5B6B7B"/>
                </a:solidFill>
                <a:latin typeface="Segoe UI"/>
              </a:rPr>
              <a:t>   ·   Defensa TFM · UNIR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6815" y="6473952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0E8C7F"/>
                </a:solidFill>
                <a:latin typeface="Segoe UI Semibold"/>
              </a:rPr>
              <a:t>Análisis RAG   </a:t>
            </a:r>
            <a:r>
              <a:rPr sz="850" b="0">
                <a:solidFill>
                  <a:srgbClr val="5B6B7B"/>
                </a:solidFill>
                <a:latin typeface="Segoe UI"/>
              </a:rPr>
              <a:t>·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669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6B8A6"/>
                </a:solidFill>
                <a:latin typeface="Segoe UI Semibold"/>
              </a:rPr>
              <a:t>▸  </a:t>
            </a:r>
            <a:r>
              <a:rPr sz="1250" b="0">
                <a:solidFill>
                  <a:srgbClr val="1A2A3A"/>
                </a:solidFill>
                <a:latin typeface="Segoe UI"/>
              </a:rPr>
              <a:t>AI Agent (n8n) + llama3.2:3b vía Ollama.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6B8A6"/>
                </a:solidFill>
                <a:latin typeface="Segoe UI Semibold"/>
              </a:rPr>
              <a:t>▸  </a:t>
            </a:r>
            <a:r>
              <a:rPr sz="1250" b="0">
                <a:solidFill>
                  <a:srgbClr val="1A2A3A"/>
                </a:solidFill>
                <a:latin typeface="Segoe UI"/>
              </a:rPr>
              <a:t>Tool buscador_manual: búsqueda vectorial sobre el manual MetroPT-3 indexado con embeddings nomic-embed-text.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6B8A6"/>
                </a:solidFill>
                <a:latin typeface="Segoe UI Semibold"/>
              </a:rPr>
              <a:t>▸  </a:t>
            </a:r>
            <a:r>
              <a:rPr sz="1250" b="0">
                <a:solidFill>
                  <a:srgbClr val="1A2A3A"/>
                </a:solidFill>
                <a:latin typeface="Segoe UI"/>
              </a:rPr>
              <a:t>El JSON de incidencia se convierte en consulta en lenguaje natural.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16B8A6"/>
                </a:solidFill>
                <a:latin typeface="Segoe UI Semibold"/>
              </a:rPr>
              <a:t>▸  </a:t>
            </a:r>
            <a:r>
              <a:rPr sz="1250" b="0">
                <a:solidFill>
                  <a:srgbClr val="1A2A3A"/>
                </a:solidFill>
                <a:latin typeface="Segoe UI"/>
              </a:rPr>
              <a:t>Grounded en el manual: recupera el fallo que mejor encaja, sin alucinar.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480560"/>
            <a:ext cx="5669280" cy="137160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61772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6B8A6"/>
                </a:solidFill>
                <a:latin typeface="Segoe UI Semibold"/>
              </a:rPr>
              <a:t>Salida estructurada obligatoria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4983480"/>
            <a:ext cx="1536192" cy="731520"/>
          </a:xfrm>
          <a:prstGeom prst="roundRect">
            <a:avLst>
              <a:gd name="adj" fmla="val 12000"/>
            </a:avLst>
          </a:prstGeom>
          <a:solidFill>
            <a:srgbClr val="12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029200"/>
            <a:ext cx="15361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Criticidad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6B8A6"/>
                </a:solidFill>
                <a:latin typeface="Segoe UI"/>
              </a:rPr>
              <a:t>Alta / Media / Baja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06624" y="4983480"/>
            <a:ext cx="1536192" cy="731520"/>
          </a:xfrm>
          <a:prstGeom prst="roundRect">
            <a:avLst>
              <a:gd name="adj" fmla="val 12000"/>
            </a:avLst>
          </a:prstGeom>
          <a:solidFill>
            <a:srgbClr val="12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6624" y="5029200"/>
            <a:ext cx="15361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Tiempo est.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6B8A6"/>
                </a:solidFill>
                <a:latin typeface="Segoe UI"/>
              </a:rPr>
              <a:t>horas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17136" y="4983480"/>
            <a:ext cx="1536192" cy="731520"/>
          </a:xfrm>
          <a:prstGeom prst="roundRect">
            <a:avLst>
              <a:gd name="adj" fmla="val 12000"/>
            </a:avLst>
          </a:prstGeom>
          <a:solidFill>
            <a:srgbClr val="12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7136" y="5029200"/>
            <a:ext cx="15361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Segoe UI Semibold"/>
              </a:rPr>
              <a:t>Coste est.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6B8A6"/>
                </a:solidFill>
                <a:latin typeface="Segoe UI"/>
              </a:rPr>
              <a:t>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965960"/>
            <a:ext cx="4967935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3_anali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050" y="2103120"/>
            <a:ext cx="4359194" cy="3291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83680" y="5440680"/>
            <a:ext cx="49679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B7B"/>
                </a:solidFill>
                <a:latin typeface="Segoe UI"/>
              </a:rPr>
              <a:t>Qwen (extracción estricta)  vs  llama (razonamiento y lenguaje natural)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256032" cy="256032"/>
          </a:xfrm>
          <a:prstGeom prst="roundRect">
            <a:avLst>
              <a:gd name="adj" fmla="val 28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7" y="5486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E8C7F"/>
                </a:solidFill>
                <a:latin typeface="Segoe UI Semibold"/>
              </a:rPr>
              <a:t>MÓDULO · OE5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2A3A"/>
                </a:solidFill>
                <a:latin typeface="Segoe UI Semibold"/>
              </a:rPr>
              <a:t>Registro con visibilidad completa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554480" cy="4572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11535" cy="10972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5B6B7B"/>
                </a:solidFill>
                <a:latin typeface="Segoe UI Semibold"/>
              </a:rPr>
              <a:t>OpsInsight Analytics</a:t>
            </a:r>
            <a:r>
              <a:rPr sz="850" b="0">
                <a:solidFill>
                  <a:srgbClr val="5B6B7B"/>
                </a:solidFill>
                <a:latin typeface="Segoe UI"/>
              </a:rPr>
              <a:t>   ·   Defensa TFM · UNIR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6815" y="6473952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0E8C7F"/>
                </a:solidFill>
                <a:latin typeface="Segoe UI Semibold"/>
              </a:rPr>
              <a:t>Registro   </a:t>
            </a:r>
            <a:r>
              <a:rPr sz="850" b="0">
                <a:solidFill>
                  <a:srgbClr val="5B6B7B"/>
                </a:solidFill>
                <a:latin typeface="Segoe UI"/>
              </a:rPr>
              <a:t>·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965960"/>
            <a:ext cx="3291840" cy="64008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14884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2A3A"/>
                </a:solidFill>
                <a:latin typeface="Segoe UI Semibold"/>
              </a:rPr>
              <a:t>MySQL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B7B"/>
                </a:solidFill>
                <a:latin typeface="Segoe UI"/>
              </a:rPr>
              <a:t>Tabla registro_incidencias: diagnóstico + campos de validación.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965960"/>
            <a:ext cx="27889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60520" y="1965960"/>
            <a:ext cx="2788920" cy="64008"/>
          </a:xfrm>
          <a:prstGeom prst="roundRect">
            <a:avLst>
              <a:gd name="adj" fmla="val 50000"/>
            </a:avLst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2148840"/>
            <a:ext cx="2377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2A3A"/>
                </a:solidFill>
                <a:latin typeface="Segoe UI Semibold"/>
              </a:rPr>
              <a:t>CSV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B7B"/>
                </a:solidFill>
                <a:latin typeface="Segoe UI"/>
              </a:rPr>
              <a:t>Copia en texto plano para consulta rápida.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2A3A"/>
                </a:solidFill>
                <a:latin typeface="Segoe UI Semibold"/>
              </a:rPr>
              <a:t>Todos los eventos quedan trazados: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77639"/>
            <a:ext cx="91440" cy="548640"/>
          </a:xfrm>
          <a:prstGeom prst="roundRect">
            <a:avLst>
              <a:gd name="adj" fmla="val 50000"/>
            </a:avLst>
          </a:prstGeom>
          <a:solidFill>
            <a:srgbClr val="2FB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977639"/>
            <a:ext cx="6035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2A3A"/>
                </a:solidFill>
                <a:latin typeface="Segoe UI Semibold"/>
              </a:rPr>
              <a:t>Válidos  —  </a:t>
            </a:r>
            <a:r>
              <a:rPr sz="1100" b="0">
                <a:solidFill>
                  <a:srgbClr val="5B6B7B"/>
                </a:solidFill>
                <a:latin typeface="Consolas"/>
              </a:rPr>
              <a:t>validacion_ok=1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81144"/>
            <a:ext cx="91440" cy="54864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4581144"/>
            <a:ext cx="6035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2A3A"/>
                </a:solidFill>
                <a:latin typeface="Segoe UI Semibold"/>
              </a:rPr>
              <a:t>Rechazados  —  </a:t>
            </a:r>
            <a:r>
              <a:rPr sz="1100" b="0">
                <a:solidFill>
                  <a:srgbClr val="5B6B7B"/>
                </a:solidFill>
                <a:latin typeface="Consolas"/>
              </a:rPr>
              <a:t>criticidad = ERROR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184648"/>
            <a:ext cx="91440" cy="548640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5184648"/>
            <a:ext cx="6035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2A3A"/>
                </a:solidFill>
                <a:latin typeface="Segoe UI Semibold"/>
              </a:rPr>
              <a:t>Fallos de sistema  —  </a:t>
            </a:r>
            <a:r>
              <a:rPr sz="1100" b="0">
                <a:solidFill>
                  <a:srgbClr val="5B6B7B"/>
                </a:solidFill>
                <a:latin typeface="Consolas"/>
              </a:rPr>
              <a:t>Error Handler → SISTEMA_ERROR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1965960"/>
            <a:ext cx="4419295" cy="388620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0" y="1965960"/>
            <a:ext cx="4419295" cy="640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2194560"/>
            <a:ext cx="3870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A623"/>
                </a:solidFill>
                <a:latin typeface="Segoe UI Semibold"/>
              </a:rPr>
              <a:t>Optimizaciones clave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788920"/>
            <a:ext cx="387065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5A623"/>
                </a:solidFill>
                <a:latin typeface="Segoe UI Semibold"/>
              </a:rPr>
              <a:t>▸  </a:t>
            </a:r>
            <a:r>
              <a:rPr sz="1150" b="0">
                <a:solidFill>
                  <a:srgbClr val="FFFFFF"/>
                </a:solidFill>
                <a:latin typeface="Segoe UI"/>
              </a:rPr>
              <a:t>Desacople del RAG: el manual se indexa una sola vez (antes se re-vectorizaba en cada incidencia → 30 min).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5A623"/>
                </a:solidFill>
                <a:latin typeface="Segoe UI Semibold"/>
              </a:rPr>
              <a:t>▸  </a:t>
            </a:r>
            <a:r>
              <a:rPr sz="1150" b="0">
                <a:solidFill>
                  <a:srgbClr val="FFFFFF"/>
                </a:solidFill>
                <a:latin typeface="Segoe UI"/>
              </a:rPr>
              <a:t>Fin del "efecto eco": embudo lineal que elimina los registros duplicados del AI Agent.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5A623"/>
                </a:solidFill>
                <a:latin typeface="Segoe UI Semibold"/>
              </a:rPr>
              <a:t>▸  </a:t>
            </a:r>
            <a:r>
              <a:rPr sz="1150" b="0">
                <a:solidFill>
                  <a:srgbClr val="FFFFFF"/>
                </a:solidFill>
                <a:latin typeface="Segoe UI"/>
              </a:rPr>
              <a:t>Ingesta modular: canales aislados evitan esquemas híbridos que confundían al agente.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256032" cy="256032"/>
          </a:xfrm>
          <a:prstGeom prst="roundRect">
            <a:avLst>
              <a:gd name="adj" fmla="val 28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7" y="5486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E8C7F"/>
                </a:solidFill>
                <a:latin typeface="Segoe UI Semibold"/>
              </a:rPr>
              <a:t>MÓDULO · OE9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2A3A"/>
                </a:solidFill>
                <a:latin typeface="Segoe UI Semibold"/>
              </a:rPr>
              <a:t>Cuadro de mando en Grafana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554480" cy="4572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11535" cy="10972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5B6B7B"/>
                </a:solidFill>
                <a:latin typeface="Segoe UI Semibold"/>
              </a:rPr>
              <a:t>OpsInsight Analytics</a:t>
            </a:r>
            <a:r>
              <a:rPr sz="850" b="0">
                <a:solidFill>
                  <a:srgbClr val="5B6B7B"/>
                </a:solidFill>
                <a:latin typeface="Segoe UI"/>
              </a:rPr>
              <a:t>   ·   Defensa TFM · UNIR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6815" y="6473952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0E8C7F"/>
                </a:solidFill>
                <a:latin typeface="Segoe UI Semibold"/>
              </a:rPr>
              <a:t>Dashboard   </a:t>
            </a:r>
            <a:r>
              <a:rPr sz="850" b="0">
                <a:solidFill>
                  <a:srgbClr val="5B6B7B"/>
                </a:solidFill>
                <a:latin typeface="Segoe UI"/>
              </a:rPr>
              <a:t>· 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20240"/>
            <a:ext cx="7498079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920" y="2057400"/>
            <a:ext cx="6502400" cy="36576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412480" y="1920240"/>
            <a:ext cx="3139135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1920240"/>
            <a:ext cx="82296" cy="658368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1936" y="1975104"/>
            <a:ext cx="27733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2A3A"/>
                </a:solidFill>
                <a:latin typeface="Segoe UI Semibold"/>
              </a:rPr>
              <a:t>Total incidencias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B6B7B"/>
                </a:solidFill>
                <a:latin typeface="Consolas"/>
              </a:rPr>
              <a:t>COUNT(*)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670048"/>
            <a:ext cx="3139135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0" y="2670048"/>
            <a:ext cx="82296" cy="658368"/>
          </a:xfrm>
          <a:prstGeom prst="roundRect">
            <a:avLst>
              <a:gd name="adj" fmla="val 50000"/>
            </a:avLst>
          </a:prstGeom>
          <a:solidFill>
            <a:srgbClr val="2FB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1936" y="2724912"/>
            <a:ext cx="27733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2A3A"/>
                </a:solidFill>
                <a:latin typeface="Segoe UI Semibold"/>
              </a:rPr>
              <a:t>% Validación OK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B6B7B"/>
                </a:solidFill>
                <a:latin typeface="Consolas"/>
              </a:rPr>
              <a:t>AVG(validacion_ok)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3419856"/>
            <a:ext cx="3139135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0" y="3419856"/>
            <a:ext cx="82296" cy="65836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31936" y="3474720"/>
            <a:ext cx="27733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2A3A"/>
                </a:solidFill>
                <a:latin typeface="Segoe UI Semibold"/>
              </a:rPr>
              <a:t>Coste total (€)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B6B7B"/>
                </a:solidFill>
                <a:latin typeface="Consolas"/>
              </a:rPr>
              <a:t>SUM(coste)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4169663"/>
            <a:ext cx="3139135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0" y="4169663"/>
            <a:ext cx="82296" cy="658368"/>
          </a:xfrm>
          <a:prstGeom prst="roundRect">
            <a:avLst>
              <a:gd name="adj" fmla="val 50000"/>
            </a:avLst>
          </a:prstGeom>
          <a:solidFill>
            <a:srgbClr val="0E8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31936" y="4224527"/>
            <a:ext cx="27733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A2A3A"/>
                </a:solidFill>
                <a:latin typeface="Segoe UI Semibold"/>
              </a:rPr>
              <a:t>MTTR (h)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5B6B7B"/>
                </a:solidFill>
                <a:latin typeface="Consolas"/>
              </a:rPr>
              <a:t>AVG(tiempo)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4919472"/>
            <a:ext cx="3139135" cy="914400"/>
          </a:xfrm>
          <a:prstGeom prst="roundRect">
            <a:avLst>
              <a:gd name="adj" fmla="val 6000"/>
            </a:avLst>
          </a:prstGeom>
          <a:solidFill>
            <a:srgbClr val="E4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0" y="4919472"/>
            <a:ext cx="3139135" cy="64008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31936" y="5010912"/>
            <a:ext cx="27733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0E8C7F"/>
                </a:solidFill>
                <a:latin typeface="Segoe UI Semibold"/>
              </a:rPr>
              <a:t>Dashboards-as-code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B7B"/>
                </a:solidFill>
                <a:latin typeface="Segoe UI"/>
              </a:rPr>
              <a:t>Auto-provisionado al arrancar · refresco 30 s · 9 paneles.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1371600"/>
            <a:ext cx="594360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>
                <a:solidFill>
                  <a:srgbClr val="1B3047"/>
                </a:solidFill>
                <a:latin typeface="Segoe UI Semibol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19" y="32461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6B8A6"/>
                </a:solidFill>
                <a:latin typeface="Segoe UI Semibold"/>
              </a:rPr>
              <a:t>BLOQUE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Resultados y conclusiones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46177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FB2C2"/>
                </a:solidFill>
                <a:latin typeface="Segoe UI"/>
              </a:rPr>
              <a:t>Grado de cumplimiento, limitaciones honestas y hoja de ruta.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8415" y="6419088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C8092"/>
                </a:solidFill>
                <a:latin typeface="Segoe UI"/>
              </a:rPr>
              <a:t>OpsInsight Analytics ·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256032" cy="256032"/>
          </a:xfrm>
          <a:prstGeom prst="roundRect">
            <a:avLst>
              <a:gd name="adj" fmla="val 28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7" y="5486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E8C7F"/>
                </a:solidFill>
                <a:latin typeface="Segoe UI Semibold"/>
              </a:rPr>
              <a:t>EVALUACIÓN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2A3A"/>
                </a:solidFill>
                <a:latin typeface="Segoe UI Semibold"/>
              </a:rPr>
              <a:t>Resultados y grado de cumplimiento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554480" cy="4572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11535" cy="10972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5B6B7B"/>
                </a:solidFill>
                <a:latin typeface="Segoe UI Semibold"/>
              </a:rPr>
              <a:t>OpsInsight Analytics</a:t>
            </a:r>
            <a:r>
              <a:rPr sz="850" b="0">
                <a:solidFill>
                  <a:srgbClr val="5B6B7B"/>
                </a:solidFill>
                <a:latin typeface="Segoe UI"/>
              </a:rPr>
              <a:t>   ·   Defensa TFM · UNIR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6815" y="6473952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0E8C7F"/>
                </a:solidFill>
                <a:latin typeface="Segoe UI Semibold"/>
              </a:rPr>
              <a:t>Resultados   </a:t>
            </a:r>
            <a:r>
              <a:rPr sz="850" b="0">
                <a:solidFill>
                  <a:srgbClr val="5B6B7B"/>
                </a:solidFill>
                <a:latin typeface="Segoe UI"/>
              </a:rPr>
              <a:t>·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20240"/>
            <a:ext cx="2522143" cy="105156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252214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6B8A6"/>
                </a:solidFill>
                <a:latin typeface="Segoe UI Semibold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25221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vías de ingesta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6543" y="1920240"/>
            <a:ext cx="2522143" cy="105156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6543" y="2011680"/>
            <a:ext cx="252214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6B8A6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6543" y="2606040"/>
            <a:ext cx="25221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reglas semánticas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1920240"/>
            <a:ext cx="2522143" cy="105156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3007" y="2011680"/>
            <a:ext cx="252214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6B8A6"/>
                </a:solidFill>
                <a:latin typeface="Segoe UI Semibold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2606040"/>
            <a:ext cx="25221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paneles de KPI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9471" y="1920240"/>
            <a:ext cx="2522143" cy="105156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9471" y="2011680"/>
            <a:ext cx="252214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6B8A6"/>
                </a:solidFill>
                <a:latin typeface="Segoe UI Semibold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9471" y="2606040"/>
            <a:ext cx="25221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Segoe UI"/>
              </a:rPr>
              <a:t>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4612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A3A"/>
                </a:solidFill>
                <a:latin typeface="Segoe UI Semibold"/>
              </a:rPr>
              <a:t>Validación de extremo a extremo</a:t>
            </a:r>
            <a:r>
              <a:rPr sz="1150" b="0">
                <a:solidFill>
                  <a:srgbClr val="5B6B7B"/>
                </a:solidFill>
                <a:latin typeface="Segoe UI"/>
              </a:rPr>
              <a:t>  sobre documentación sintética basada en AI4I 2020 y MetroPT-3.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70332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2A3A"/>
                </a:solidFill>
                <a:latin typeface="Segoe UI Semibold"/>
              </a:rPr>
              <a:t>Cumplimiento de objetivos específicos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069080"/>
            <a:ext cx="1049832" cy="640080"/>
          </a:xfrm>
          <a:prstGeom prst="roundRect">
            <a:avLst>
              <a:gd name="adj" fmla="val 12000"/>
            </a:avLst>
          </a:prstGeom>
          <a:solidFill>
            <a:srgbClr val="2FB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069080"/>
            <a:ext cx="104983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OE1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72792" y="4069080"/>
            <a:ext cx="1049832" cy="640080"/>
          </a:xfrm>
          <a:prstGeom prst="roundRect">
            <a:avLst>
              <a:gd name="adj" fmla="val 12000"/>
            </a:avLst>
          </a:prstGeom>
          <a:solidFill>
            <a:srgbClr val="2FB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72792" y="4069080"/>
            <a:ext cx="104983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OE2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05505" y="4069080"/>
            <a:ext cx="1049832" cy="640080"/>
          </a:xfrm>
          <a:prstGeom prst="roundRect">
            <a:avLst>
              <a:gd name="adj" fmla="val 12000"/>
            </a:avLst>
          </a:prstGeom>
          <a:solidFill>
            <a:srgbClr val="2FB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5505" y="4069080"/>
            <a:ext cx="104983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OE3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8218" y="4069080"/>
            <a:ext cx="1049832" cy="640080"/>
          </a:xfrm>
          <a:prstGeom prst="roundRect">
            <a:avLst>
              <a:gd name="adj" fmla="val 12000"/>
            </a:avLst>
          </a:prstGeom>
          <a:solidFill>
            <a:srgbClr val="2FB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38218" y="4069080"/>
            <a:ext cx="104983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OE4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0931" y="4069080"/>
            <a:ext cx="1049832" cy="640080"/>
          </a:xfrm>
          <a:prstGeom prst="roundRect">
            <a:avLst>
              <a:gd name="adj" fmla="val 12000"/>
            </a:avLst>
          </a:prstGeom>
          <a:solidFill>
            <a:srgbClr val="2FB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0931" y="4069080"/>
            <a:ext cx="104983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OE5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03644" y="4069080"/>
            <a:ext cx="1049832" cy="640080"/>
          </a:xfrm>
          <a:prstGeom prst="roundRect">
            <a:avLst>
              <a:gd name="adj" fmla="val 12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3644" y="4069080"/>
            <a:ext cx="104983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OE6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36356" y="4069080"/>
            <a:ext cx="1049832" cy="640080"/>
          </a:xfrm>
          <a:prstGeom prst="roundRect">
            <a:avLst>
              <a:gd name="adj" fmla="val 12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36356" y="4069080"/>
            <a:ext cx="104983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OE7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69069" y="4069080"/>
            <a:ext cx="1049832" cy="640080"/>
          </a:xfrm>
          <a:prstGeom prst="roundRect">
            <a:avLst>
              <a:gd name="adj" fmla="val 12000"/>
            </a:avLst>
          </a:prstGeom>
          <a:solidFill>
            <a:srgbClr val="2FB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69069" y="4069080"/>
            <a:ext cx="104983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OE8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501782" y="4069080"/>
            <a:ext cx="1049832" cy="640080"/>
          </a:xfrm>
          <a:prstGeom prst="roundRect">
            <a:avLst>
              <a:gd name="adj" fmla="val 12000"/>
            </a:avLst>
          </a:prstGeom>
          <a:solidFill>
            <a:srgbClr val="2FB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01782" y="4069080"/>
            <a:ext cx="104983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 Semibold"/>
              </a:rPr>
              <a:t>OE9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49377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FB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937760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2A3A"/>
                </a:solidFill>
                <a:latin typeface="Segoe UI"/>
              </a:rPr>
              <a:t>Completo y validado (7/9)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0" y="493776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37760" y="493776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A2A3A"/>
                </a:solidFill>
                <a:latin typeface="Segoe UI"/>
              </a:rPr>
              <a:t>Parcial — soportado descriptivamente (OE6 temporal, OE7 índice compuesto)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5440680"/>
            <a:ext cx="10911535" cy="502920"/>
          </a:xfrm>
          <a:prstGeom prst="roundRect">
            <a:avLst>
              <a:gd name="adj" fmla="val 6000"/>
            </a:avLst>
          </a:prstGeom>
          <a:solidFill>
            <a:srgbClr val="E4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0080" y="5440680"/>
            <a:ext cx="10911535" cy="64008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5440680"/>
            <a:ext cx="103628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E8C7F"/>
                </a:solidFill>
                <a:latin typeface="Segoe UI Semibold"/>
              </a:rPr>
              <a:t>Prototipo de producto mínimo viable, honesto en su alcance: de documentación heterogénea a inteligencia accionable, local y trazable.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256032" cy="256032"/>
          </a:xfrm>
          <a:prstGeom prst="roundRect">
            <a:avLst>
              <a:gd name="adj" fmla="val 28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7" y="5486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E8C7F"/>
                </a:solidFill>
                <a:latin typeface="Segoe UI Semibold"/>
              </a:rPr>
              <a:t>PROSPECTIVA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2A3A"/>
                </a:solidFill>
                <a:latin typeface="Segoe UI Semibold"/>
              </a:rPr>
              <a:t>Limitaciones y trabajo futuro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554480" cy="4572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11535" cy="10972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5B6B7B"/>
                </a:solidFill>
                <a:latin typeface="Segoe UI Semibold"/>
              </a:rPr>
              <a:t>OpsInsight Analytics</a:t>
            </a:r>
            <a:r>
              <a:rPr sz="850" b="0">
                <a:solidFill>
                  <a:srgbClr val="5B6B7B"/>
                </a:solidFill>
                <a:latin typeface="Segoe UI"/>
              </a:rPr>
              <a:t>   ·   Defensa TFM · UNIR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6815" y="6473952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0E8C7F"/>
                </a:solidFill>
                <a:latin typeface="Segoe UI Semibold"/>
              </a:rPr>
              <a:t>Conclusiones   </a:t>
            </a:r>
            <a:r>
              <a:rPr sz="850" b="0">
                <a:solidFill>
                  <a:srgbClr val="5B6B7B"/>
                </a:solidFill>
                <a:latin typeface="Segoe UI"/>
              </a:rPr>
              <a:t>·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5227167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965960"/>
            <a:ext cx="5227167" cy="640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467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2A3A"/>
                </a:solidFill>
                <a:latin typeface="Segoe UI Semibold"/>
              </a:rPr>
              <a:t>Limitaciones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97480"/>
            <a:ext cx="467852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F5A623"/>
                </a:solidFill>
                <a:latin typeface="Segoe UI Semibold"/>
              </a:rPr>
              <a:t>▸  </a:t>
            </a:r>
            <a:r>
              <a:rPr sz="1200" b="0">
                <a:solidFill>
                  <a:srgbClr val="1A2A3A"/>
                </a:solidFill>
                <a:latin typeface="Segoe UI"/>
              </a:rPr>
              <a:t>LLMs de 3B en CPU: latencia de inferencia considerable (cuello de botella del pipeline).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F5A623"/>
                </a:solidFill>
                <a:latin typeface="Segoe UI Semibold"/>
              </a:rPr>
              <a:t>▸  </a:t>
            </a:r>
            <a:r>
              <a:rPr sz="1200" b="0">
                <a:solidFill>
                  <a:srgbClr val="1A2A3A"/>
                </a:solidFill>
                <a:latin typeface="Segoe UI"/>
              </a:rPr>
              <a:t>Prototipo demostrador, no sistema de producción: sin autenticación ni control de acceso.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F5A623"/>
                </a:solidFill>
                <a:latin typeface="Segoe UI Semibold"/>
              </a:rPr>
              <a:t>▸  </a:t>
            </a:r>
            <a:r>
              <a:rPr sz="1200" b="0">
                <a:solidFill>
                  <a:srgbClr val="1A2A3A"/>
                </a:solidFill>
                <a:latin typeface="Segoe UI"/>
              </a:rPr>
              <a:t>Validado sobre datos sintéticos, no reales de empresa.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F5A623"/>
                </a:solidFill>
                <a:latin typeface="Segoe UI Semibold"/>
              </a:rPr>
              <a:t>▸  </a:t>
            </a:r>
            <a:r>
              <a:rPr sz="1200" b="0">
                <a:solidFill>
                  <a:srgbClr val="1A2A3A"/>
                </a:solidFill>
                <a:latin typeface="Segoe UI"/>
              </a:rPr>
              <a:t>OE6/OE7 cubiertos en su dimensión descriptiva, no como métrica compuesta.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1965960"/>
            <a:ext cx="5227167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24447" y="1965960"/>
            <a:ext cx="5227167" cy="64008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8767" y="2194560"/>
            <a:ext cx="467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2A3A"/>
                </a:solidFill>
                <a:latin typeface="Segoe UI Semibold"/>
              </a:rPr>
              <a:t>Trabajo futuro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8767" y="2697480"/>
            <a:ext cx="467852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16B8A6"/>
                </a:solidFill>
                <a:latin typeface="Segoe UI Semibold"/>
              </a:rPr>
              <a:t>▸  </a:t>
            </a:r>
            <a:r>
              <a:rPr sz="1200" b="0">
                <a:solidFill>
                  <a:srgbClr val="1A2A3A"/>
                </a:solidFill>
                <a:latin typeface="Segoe UI"/>
              </a:rPr>
              <a:t>Índice de criticidad compuesto (OE7) y serie temporal de incidencias (OE6).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16B8A6"/>
                </a:solidFill>
                <a:latin typeface="Segoe UI Semibold"/>
              </a:rPr>
              <a:t>▸  </a:t>
            </a:r>
            <a:r>
              <a:rPr sz="1200" b="0">
                <a:solidFill>
                  <a:srgbClr val="1A2A3A"/>
                </a:solidFill>
                <a:latin typeface="Segoe UI"/>
              </a:rPr>
              <a:t>Webhook de subida (web, carpeta monitorizada o nube) para la ingesta.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16B8A6"/>
                </a:solidFill>
                <a:latin typeface="Segoe UI Semibold"/>
              </a:rPr>
              <a:t>▸  </a:t>
            </a:r>
            <a:r>
              <a:rPr sz="1200" b="0">
                <a:solidFill>
                  <a:srgbClr val="1A2A3A"/>
                </a:solidFill>
                <a:latin typeface="Segoe UI"/>
              </a:rPr>
              <a:t>Notificación activa (Slack/email) ante inconsistencias de severidad alta.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16B8A6"/>
                </a:solidFill>
                <a:latin typeface="Segoe UI Semibold"/>
              </a:rPr>
              <a:t>▸  </a:t>
            </a:r>
            <a:r>
              <a:rPr sz="1200" b="0">
                <a:solidFill>
                  <a:srgbClr val="1A2A3A"/>
                </a:solidFill>
                <a:latin typeface="Segoe UI"/>
              </a:rPr>
              <a:t>Más reglas de correlación del manual y alertas de Grafana sobre umbrales.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66928"/>
            <a:ext cx="256032" cy="256032"/>
          </a:xfrm>
          <a:prstGeom prst="roundRect">
            <a:avLst>
              <a:gd name="adj" fmla="val 28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7" y="5486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E8C7F"/>
                </a:solidFill>
                <a:latin typeface="Segoe UI Semibold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109115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2A3A"/>
                </a:solidFill>
                <a:latin typeface="Segoe UI Semibold"/>
              </a:rPr>
              <a:t>Conclusiones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72768"/>
            <a:ext cx="1554480" cy="45720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11535" cy="10972"/>
          </a:xfrm>
          <a:prstGeom prst="rect">
            <a:avLst/>
          </a:prstGeom>
          <a:solidFill>
            <a:srgbClr val="D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858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5B6B7B"/>
                </a:solidFill>
                <a:latin typeface="Segoe UI Semibold"/>
              </a:rPr>
              <a:t>OpsInsight Analytics</a:t>
            </a:r>
            <a:r>
              <a:rPr sz="850" b="0">
                <a:solidFill>
                  <a:srgbClr val="5B6B7B"/>
                </a:solidFill>
                <a:latin typeface="Segoe UI"/>
              </a:rPr>
              <a:t>   ·   Defensa TFM · UNIR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6815" y="6473952"/>
            <a:ext cx="4114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>
                <a:solidFill>
                  <a:srgbClr val="0E8C7F"/>
                </a:solidFill>
                <a:latin typeface="Segoe UI Semibold"/>
              </a:rPr>
              <a:t>Conclusiones   </a:t>
            </a:r>
            <a:r>
              <a:rPr sz="850" b="0">
                <a:solidFill>
                  <a:srgbClr val="5B6B7B"/>
                </a:solidFill>
                <a:latin typeface="Segoe UI"/>
              </a:rPr>
              <a:t>·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20240"/>
            <a:ext cx="10911535" cy="1234440"/>
          </a:xfrm>
          <a:prstGeom prst="roundRect">
            <a:avLst>
              <a:gd name="adj" fmla="val 6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920240"/>
            <a:ext cx="109728" cy="1234440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1920240"/>
            <a:ext cx="1027145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Segoe UI Semibold"/>
              </a:rPr>
              <a:t>OpsInsight Analytics demuestra que es posible pasar de documentación operativa heterogénea a inteligencia analítica accionable mediante un enfoque local, reproducible y trazable.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2900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A3A"/>
                </a:solidFill>
                <a:latin typeface="Segoe UI Semibold"/>
              </a:rPr>
              <a:t>Tres aportaciones diferenciales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333237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3332378" cy="64008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23360"/>
            <a:ext cx="287517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A2A3A"/>
                </a:solidFill>
                <a:latin typeface="Segoe UI Semibold"/>
              </a:rPr>
              <a:t>Pipeline local end-to-end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Arquitectura multiagente completa sin dependencias en la nube.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9658" y="3840480"/>
            <a:ext cx="333237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29658" y="3840480"/>
            <a:ext cx="3332378" cy="640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58258" y="4023360"/>
            <a:ext cx="287517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A2A3A"/>
                </a:solidFill>
                <a:latin typeface="Segoe UI Semibold"/>
              </a:rPr>
              <a:t>Validación semántica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Coherencia del dato contra el manual técnico, no solo estructural.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9236" y="3840480"/>
            <a:ext cx="333237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19236" y="3840480"/>
            <a:ext cx="3332378" cy="64008"/>
          </a:xfrm>
          <a:prstGeom prst="roundRect">
            <a:avLst>
              <a:gd name="adj" fmla="val 50000"/>
            </a:avLst>
          </a:prstGeom>
          <a:solidFill>
            <a:srgbClr val="2FB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7836" y="4023360"/>
            <a:ext cx="287517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A2A3A"/>
                </a:solidFill>
                <a:latin typeface="Segoe UI Semibold"/>
              </a:rPr>
              <a:t>Visualización trazable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B6B7B"/>
                </a:solidFill>
                <a:latin typeface="Segoe UI"/>
              </a:rPr>
              <a:t>Del reporte a la decisión, con visibilidad completa del pipeline.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577840"/>
            <a:ext cx="10911535" cy="457200"/>
          </a:xfrm>
          <a:prstGeom prst="roundRect">
            <a:avLst>
              <a:gd name="adj" fmla="val 6000"/>
            </a:avLst>
          </a:prstGeom>
          <a:solidFill>
            <a:srgbClr val="E4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5577840"/>
            <a:ext cx="10911535" cy="64008"/>
          </a:xfrm>
          <a:prstGeom prst="roundRect">
            <a:avLst>
              <a:gd name="adj" fmla="val 50000"/>
            </a:avLst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3628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E8C7F"/>
                </a:solidFill>
                <a:latin typeface="Segoe UI Semibold"/>
              </a:rPr>
              <a:t>Los objetivos nucleares se alcanzaron y validaron de extremo a extremo; el resultado define una hoja de ruta clara hacia un producto profesional.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Gracias por su atención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6B8A6"/>
                </a:solidFill>
                <a:latin typeface="Segoe UI Semibold"/>
              </a:rPr>
              <a:t>¿Preguntas?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" y="3977639"/>
            <a:ext cx="2194560" cy="54864"/>
          </a:xfrm>
          <a:prstGeom prst="rect">
            <a:avLst/>
          </a:prstGeom>
          <a:solidFill>
            <a:srgbClr val="16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 Semibold"/>
              </a:rPr>
              <a:t>OpsInsight Analytics</a:t>
            </a:r>
            <a:r>
              <a:rPr sz="1200" b="0">
                <a:solidFill>
                  <a:srgbClr val="C6D3DD"/>
                </a:solidFill>
                <a:latin typeface="Segoe UI"/>
              </a:rPr>
              <a:t>   ·   Máster en Análisis y Visualización de Datos Masivos · UNIR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6D3DD"/>
                </a:solidFill>
                <a:latin typeface="Segoe UI"/>
              </a:rPr>
              <a:t>Efrel Armando López Cáceres   ·   José Miguel Torres Cámara   ·   Víctor Romero Pardeiro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394960"/>
            <a:ext cx="3794760" cy="457200"/>
          </a:xfrm>
          <a:prstGeom prst="roundRect">
            <a:avLst>
              <a:gd name="adj" fmla="val 40000"/>
            </a:avLst>
          </a:prstGeom>
          <a:solidFill>
            <a:srgbClr val="12253A"/>
          </a:solidFill>
          <a:ln w="12700">
            <a:solidFill>
              <a:srgbClr val="0E8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5394960"/>
            <a:ext cx="3566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6B8A6"/>
                </a:solidFill>
                <a:latin typeface="Segoe UI Semibold"/>
              </a:rPr>
              <a:t>RedProyectum</a:t>
            </a:r>
            <a:r>
              <a:rPr sz="1050" b="0">
                <a:solidFill>
                  <a:srgbClr val="C6D3DD"/>
                </a:solidFill>
                <a:latin typeface="Segoe UI"/>
              </a:rPr>
              <a:t>  ·  Sopra Steria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